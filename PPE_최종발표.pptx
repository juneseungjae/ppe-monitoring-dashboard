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0" d="100"/>
          <a:sy n="130" d="100"/>
        </p:scale>
        <p:origin x="52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14130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6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297680"/>
            <a:ext cx="9144000" cy="845820"/>
          </a:xfrm>
          <a:prstGeom prst="rect">
            <a:avLst/>
          </a:prstGeom>
          <a:solidFill>
            <a:srgbClr val="061425"/>
          </a:solidFill>
          <a:ln w="12700">
            <a:solidFill>
              <a:srgbClr val="06142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457200"/>
            <a:ext cx="2194560" cy="347472"/>
          </a:xfrm>
          <a:prstGeom prst="rect">
            <a:avLst/>
          </a:prstGeom>
          <a:solidFill>
            <a:srgbClr val="00B894"/>
          </a:solidFill>
          <a:ln w="12700">
            <a:solidFill>
              <a:srgbClr val="00B894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5" name="Text 3"/>
          <p:cNvSpPr/>
          <p:nvPr/>
        </p:nvSpPr>
        <p:spPr>
          <a:xfrm>
            <a:off x="365760" y="457200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365760" y="100584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PPE 모니터링 시스템</a:t>
            </a:r>
            <a:endParaRPr lang="en-US" sz="4600" dirty="0"/>
          </a:p>
        </p:txBody>
      </p:sp>
      <p:sp>
        <p:nvSpPr>
          <p:cNvPr id="7" name="Text 5"/>
          <p:cNvSpPr/>
          <p:nvPr/>
        </p:nvSpPr>
        <p:spPr>
          <a:xfrm>
            <a:off x="365760" y="182880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00D4AA"/>
                </a:solidFill>
              </a:rPr>
              <a:t>Personal Protective Equipment Monitoring System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365760" y="233172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0C4D8"/>
                </a:solidFill>
              </a:rPr>
              <a:t>YOLOv8 + Spring Boot + React 실시간 안전 감시 플랫폼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4389120"/>
            <a:ext cx="1554480" cy="594360"/>
          </a:xfrm>
          <a:prstGeom prst="rect">
            <a:avLst/>
          </a:prstGeom>
          <a:solidFill>
            <a:srgbClr val="122644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4389120"/>
            <a:ext cx="1554480" cy="594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김인섭</a:t>
            </a:r>
            <a:endParaRPr lang="en-US" sz="10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00D4AA"/>
                </a:solidFill>
              </a:rPr>
              <a:t>팀장 · 총괄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148840" y="4389120"/>
            <a:ext cx="1554480" cy="594360"/>
          </a:xfrm>
          <a:prstGeom prst="rect">
            <a:avLst/>
          </a:prstGeom>
          <a:solidFill>
            <a:srgbClr val="122644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148840" y="4389120"/>
            <a:ext cx="1554480" cy="594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성기원</a:t>
            </a:r>
            <a:endParaRPr lang="en-US" sz="10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00D4AA"/>
                </a:solidFill>
              </a:rPr>
              <a:t>DB 설계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840480" y="4389120"/>
            <a:ext cx="1554480" cy="594360"/>
          </a:xfrm>
          <a:prstGeom prst="rect">
            <a:avLst/>
          </a:prstGeom>
          <a:solidFill>
            <a:srgbClr val="122644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840480" y="4389120"/>
            <a:ext cx="1554480" cy="594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전승재</a:t>
            </a:r>
            <a:endParaRPr lang="en-US" sz="10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00D4AA"/>
                </a:solidFill>
              </a:rPr>
              <a:t>DB · 백엔드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532120" y="4389120"/>
            <a:ext cx="1554480" cy="594360"/>
          </a:xfrm>
          <a:prstGeom prst="rect">
            <a:avLst/>
          </a:prstGeom>
          <a:solidFill>
            <a:srgbClr val="122644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532120" y="4389120"/>
            <a:ext cx="1554480" cy="594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조용욱</a:t>
            </a:r>
            <a:endParaRPr lang="en-US" sz="10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00D4AA"/>
                </a:solidFill>
              </a:rPr>
              <a:t>AI 학습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223760" y="4389120"/>
            <a:ext cx="1554480" cy="594360"/>
          </a:xfrm>
          <a:prstGeom prst="rect">
            <a:avLst/>
          </a:prstGeom>
          <a:solidFill>
            <a:srgbClr val="122644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223760" y="4389120"/>
            <a:ext cx="1554480" cy="594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박종인</a:t>
            </a:r>
            <a:endParaRPr lang="en-US" sz="10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00D4AA"/>
                </a:solidFill>
              </a:rPr>
              <a:t>프론트 · 백엔드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6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2038"/>
          </a:solidFill>
          <a:ln w="12700">
            <a:solidFill>
              <a:srgbClr val="0F203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팀 소개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804672"/>
            <a:ext cx="1097280" cy="45720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08009" y="1234440"/>
            <a:ext cx="1609344" cy="3474720"/>
          </a:xfrm>
          <a:prstGeom prst="rect">
            <a:avLst/>
          </a:prstGeom>
          <a:solidFill>
            <a:srgbClr val="0F2038"/>
          </a:solidFill>
          <a:ln w="19050">
            <a:solidFill>
              <a:srgbClr val="00D4AA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08009" y="1234440"/>
            <a:ext cx="1609344" cy="256032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84081" y="1581912"/>
            <a:ext cx="457200" cy="457200"/>
          </a:xfrm>
          <a:prstGeom prst="ellipse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84081" y="15819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60D1A"/>
                </a:solidFill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81161" y="2148840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김인섭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36609" y="2560320"/>
            <a:ext cx="1152144" cy="256032"/>
          </a:xfrm>
          <a:prstGeom prst="rect">
            <a:avLst/>
          </a:prstGeom>
          <a:solidFill>
            <a:srgbClr val="060D1A"/>
          </a:solidFill>
          <a:ln w="10160">
            <a:solidFill>
              <a:srgbClr val="00D4A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6609" y="2560320"/>
            <a:ext cx="11521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D4AA"/>
                </a:solidFill>
              </a:rPr>
              <a:t>팀장 · 총괄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99449" y="2971800"/>
            <a:ext cx="1426464" cy="17373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750" dirty="0">
                <a:solidFill>
                  <a:srgbClr val="B0C4D8"/>
                </a:solidFill>
              </a:rPr>
              <a:t>프로젝트 전체 기획 및 일정 관리</a:t>
            </a:r>
            <a:endParaRPr lang="en-US" sz="7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750" dirty="0">
                <a:solidFill>
                  <a:srgbClr val="B0C4D8"/>
                </a:solidFill>
              </a:rPr>
              <a:t>요구사항 분석 및 시스템 설계 총괄</a:t>
            </a:r>
            <a:endParaRPr lang="en-US" sz="7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750" dirty="0">
                <a:solidFill>
                  <a:srgbClr val="B0C4D8"/>
                </a:solidFill>
              </a:rPr>
              <a:t>발표 및 문서 작성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2108793" y="1234440"/>
            <a:ext cx="1609344" cy="3474720"/>
          </a:xfrm>
          <a:prstGeom prst="rect">
            <a:avLst/>
          </a:prstGeom>
          <a:solidFill>
            <a:srgbClr val="0F2038"/>
          </a:solidFill>
          <a:ln w="19050">
            <a:solidFill>
              <a:srgbClr val="F59E0B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108793" y="1234440"/>
            <a:ext cx="1609344" cy="25603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684865" y="1581912"/>
            <a:ext cx="457200" cy="45720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684865" y="15819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60D1A"/>
                </a:solidFill>
              </a:rPr>
              <a:t>2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2181945" y="2148840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성기원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2337393" y="2560320"/>
            <a:ext cx="1152144" cy="256032"/>
          </a:xfrm>
          <a:prstGeom prst="rect">
            <a:avLst/>
          </a:prstGeom>
          <a:solidFill>
            <a:srgbClr val="060D1A"/>
          </a:solidFill>
          <a:ln w="10160">
            <a:solidFill>
              <a:srgbClr val="F59E0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337393" y="2560320"/>
            <a:ext cx="11521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59E0B"/>
                </a:solidFill>
              </a:rPr>
              <a:t>DB 설계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2200233" y="2971800"/>
            <a:ext cx="1426464" cy="17373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750" dirty="0">
                <a:solidFill>
                  <a:srgbClr val="B0C4D8"/>
                </a:solidFill>
              </a:rPr>
              <a:t>데이터베이스 스키마 설계</a:t>
            </a:r>
            <a:endParaRPr lang="en-US" sz="7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750" dirty="0">
                <a:solidFill>
                  <a:srgbClr val="B0C4D8"/>
                </a:solidFill>
              </a:rPr>
              <a:t>테이블 정규화 및 인덱스 최적화</a:t>
            </a:r>
            <a:endParaRPr lang="en-US" sz="7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750" dirty="0">
                <a:solidFill>
                  <a:srgbClr val="B0C4D8"/>
                </a:solidFill>
              </a:rPr>
              <a:t>ERD 작성 및 마이그레이션 스크립트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3809577" y="1234440"/>
            <a:ext cx="1609344" cy="3474720"/>
          </a:xfrm>
          <a:prstGeom prst="rect">
            <a:avLst/>
          </a:prstGeom>
          <a:solidFill>
            <a:srgbClr val="0F2038"/>
          </a:solidFill>
          <a:ln w="19050">
            <a:solidFill>
              <a:srgbClr val="2D6EE8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809577" y="1234440"/>
            <a:ext cx="1609344" cy="256032"/>
          </a:xfrm>
          <a:prstGeom prst="rect">
            <a:avLst/>
          </a:prstGeom>
          <a:solidFill>
            <a:srgbClr val="2D6EE8"/>
          </a:solidFill>
          <a:ln w="12700">
            <a:solidFill>
              <a:srgbClr val="2D6EE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385649" y="1581912"/>
            <a:ext cx="457200" cy="457200"/>
          </a:xfrm>
          <a:prstGeom prst="ellipse">
            <a:avLst/>
          </a:prstGeom>
          <a:solidFill>
            <a:srgbClr val="2D6EE8"/>
          </a:solidFill>
          <a:ln w="12700">
            <a:solidFill>
              <a:srgbClr val="2D6EE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385649" y="15819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60D1A"/>
                </a:solidFill>
              </a:rPr>
              <a:t>3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3882729" y="2148840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전승재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4038177" y="2560320"/>
            <a:ext cx="1152144" cy="256032"/>
          </a:xfrm>
          <a:prstGeom prst="rect">
            <a:avLst/>
          </a:prstGeom>
          <a:solidFill>
            <a:srgbClr val="060D1A"/>
          </a:solidFill>
          <a:ln w="10160">
            <a:solidFill>
              <a:srgbClr val="2D6EE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038177" y="2560320"/>
            <a:ext cx="11521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2D6EE8"/>
                </a:solidFill>
              </a:rPr>
              <a:t>DB · 백엔드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3901017" y="2971800"/>
            <a:ext cx="1426464" cy="17373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750" dirty="0">
                <a:solidFill>
                  <a:srgbClr val="B0C4D8"/>
                </a:solidFill>
              </a:rPr>
              <a:t>Spring Boot REST API 개발</a:t>
            </a:r>
            <a:endParaRPr lang="en-US" sz="7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750" dirty="0">
                <a:solidFill>
                  <a:srgbClr val="B0C4D8"/>
                </a:solidFill>
              </a:rPr>
              <a:t>JPA 엔티티 및 레포지토리 구현</a:t>
            </a:r>
            <a:endParaRPr lang="en-US" sz="7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750" dirty="0">
                <a:solidFill>
                  <a:srgbClr val="B0C4D8"/>
                </a:solidFill>
              </a:rPr>
              <a:t>JWT 인증 및 WebSocket 연동</a:t>
            </a:r>
            <a:endParaRPr lang="en-US" sz="750" dirty="0"/>
          </a:p>
        </p:txBody>
      </p:sp>
      <p:sp>
        <p:nvSpPr>
          <p:cNvPr id="29" name="Shape 27"/>
          <p:cNvSpPr/>
          <p:nvPr/>
        </p:nvSpPr>
        <p:spPr>
          <a:xfrm>
            <a:off x="5510361" y="1234440"/>
            <a:ext cx="1609344" cy="3474720"/>
          </a:xfrm>
          <a:prstGeom prst="rect">
            <a:avLst/>
          </a:prstGeom>
          <a:solidFill>
            <a:srgbClr val="0F2038"/>
          </a:solidFill>
          <a:ln w="19050">
            <a:solidFill>
              <a:srgbClr val="A855F7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5510361" y="1234440"/>
            <a:ext cx="1609344" cy="256032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086433" y="1581912"/>
            <a:ext cx="457200" cy="457200"/>
          </a:xfrm>
          <a:prstGeom prst="ellipse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086433" y="15819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60D1A"/>
                </a:solidFill>
              </a:rPr>
              <a:t>4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5583513" y="2148840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조용욱</a:t>
            </a:r>
            <a:endParaRPr lang="en-US" sz="1500" dirty="0"/>
          </a:p>
        </p:txBody>
      </p:sp>
      <p:sp>
        <p:nvSpPr>
          <p:cNvPr id="34" name="Shape 32"/>
          <p:cNvSpPr/>
          <p:nvPr/>
        </p:nvSpPr>
        <p:spPr>
          <a:xfrm>
            <a:off x="5738961" y="2560320"/>
            <a:ext cx="1152144" cy="256032"/>
          </a:xfrm>
          <a:prstGeom prst="rect">
            <a:avLst/>
          </a:prstGeom>
          <a:solidFill>
            <a:srgbClr val="060D1A"/>
          </a:solidFill>
          <a:ln w="10160">
            <a:solidFill>
              <a:srgbClr val="A855F7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738961" y="2560320"/>
            <a:ext cx="11521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A855F7"/>
                </a:solidFill>
              </a:rPr>
              <a:t>AI 학습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5601801" y="2971800"/>
            <a:ext cx="1426464" cy="17373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750" dirty="0">
                <a:solidFill>
                  <a:srgbClr val="B0C4D8"/>
                </a:solidFill>
              </a:rPr>
              <a:t>YOLOv8 모델 학습 및 최적화</a:t>
            </a:r>
            <a:endParaRPr lang="en-US" sz="7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750" dirty="0">
                <a:solidFill>
                  <a:srgbClr val="B0C4D8"/>
                </a:solidFill>
              </a:rPr>
              <a:t>PPE 데이터셋 수집/라벨링</a:t>
            </a:r>
            <a:endParaRPr lang="en-US" sz="7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750" dirty="0">
                <a:solidFill>
                  <a:srgbClr val="B0C4D8"/>
                </a:solidFill>
              </a:rPr>
              <a:t>ByteTrack 다중 객체 추적 구현</a:t>
            </a:r>
            <a:endParaRPr lang="en-US" sz="750" dirty="0"/>
          </a:p>
        </p:txBody>
      </p:sp>
      <p:sp>
        <p:nvSpPr>
          <p:cNvPr id="37" name="Shape 35"/>
          <p:cNvSpPr/>
          <p:nvPr/>
        </p:nvSpPr>
        <p:spPr>
          <a:xfrm>
            <a:off x="7211145" y="1234440"/>
            <a:ext cx="1609344" cy="3474720"/>
          </a:xfrm>
          <a:prstGeom prst="rect">
            <a:avLst/>
          </a:prstGeom>
          <a:solidFill>
            <a:srgbClr val="0F2038"/>
          </a:solidFill>
          <a:ln w="19050">
            <a:solidFill>
              <a:srgbClr val="F43F5E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7211145" y="1234440"/>
            <a:ext cx="1609344" cy="256032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7787217" y="1581912"/>
            <a:ext cx="457200" cy="457200"/>
          </a:xfrm>
          <a:prstGeom prst="ellipse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787217" y="15819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60D1A"/>
                </a:solidFill>
              </a:rPr>
              <a:t>5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7284297" y="2148840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박종인</a:t>
            </a:r>
            <a:endParaRPr lang="en-US" sz="1500" dirty="0"/>
          </a:p>
        </p:txBody>
      </p:sp>
      <p:sp>
        <p:nvSpPr>
          <p:cNvPr id="42" name="Shape 40"/>
          <p:cNvSpPr/>
          <p:nvPr/>
        </p:nvSpPr>
        <p:spPr>
          <a:xfrm>
            <a:off x="7439745" y="2560320"/>
            <a:ext cx="1152144" cy="256032"/>
          </a:xfrm>
          <a:prstGeom prst="rect">
            <a:avLst/>
          </a:prstGeom>
          <a:solidFill>
            <a:srgbClr val="060D1A"/>
          </a:solidFill>
          <a:ln w="10160">
            <a:solidFill>
              <a:srgbClr val="F43F5E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439745" y="2560320"/>
            <a:ext cx="11521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43F5E"/>
                </a:solidFill>
              </a:rPr>
              <a:t>프론트 · 백엔드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7302585" y="2971800"/>
            <a:ext cx="1426464" cy="17373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750" dirty="0">
                <a:solidFill>
                  <a:srgbClr val="B0C4D8"/>
                </a:solidFill>
              </a:rPr>
              <a:t>React 대시보드 UI/UX 개발</a:t>
            </a:r>
            <a:endParaRPr lang="en-US" sz="7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750" dirty="0">
                <a:solidFill>
                  <a:srgbClr val="B0C4D8"/>
                </a:solidFill>
              </a:rPr>
              <a:t>STOMP WebSocket 실시간 연동</a:t>
            </a:r>
            <a:endParaRPr lang="en-US" sz="7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750" dirty="0">
                <a:solidFill>
                  <a:srgbClr val="B0C4D8"/>
                </a:solidFill>
              </a:rPr>
              <a:t>이벤트 상태 관리 및 필터링</a:t>
            </a:r>
            <a:endParaRPr lang="en-US" sz="750" dirty="0"/>
          </a:p>
        </p:txBody>
      </p:sp>
      <p:sp>
        <p:nvSpPr>
          <p:cNvPr id="45" name="Text 43"/>
          <p:cNvSpPr/>
          <p:nvPr/>
        </p:nvSpPr>
        <p:spPr>
          <a:xfrm>
            <a:off x="8503920" y="4846320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99AA"/>
                </a:solidFill>
              </a:rPr>
              <a:t>2 / 14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6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2038"/>
          </a:solidFill>
          <a:ln w="12700">
            <a:solidFill>
              <a:srgbClr val="0F203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목 차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804672"/>
            <a:ext cx="731520" cy="45720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051560"/>
            <a:ext cx="2651760" cy="1078992"/>
          </a:xfrm>
          <a:prstGeom prst="rect">
            <a:avLst/>
          </a:prstGeom>
          <a:solidFill>
            <a:srgbClr val="0F2038"/>
          </a:solidFill>
          <a:ln w="12700">
            <a:solidFill>
              <a:srgbClr val="00D4AA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051560"/>
            <a:ext cx="502920" cy="1078992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051560"/>
            <a:ext cx="50292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60D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24128" y="114300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프로젝트 개요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24128" y="1600200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99AA"/>
                </a:solidFill>
              </a:rPr>
              <a:t>배경 및 목적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310128" y="1051560"/>
            <a:ext cx="2651760" cy="1078992"/>
          </a:xfrm>
          <a:prstGeom prst="rect">
            <a:avLst/>
          </a:prstGeom>
          <a:solidFill>
            <a:srgbClr val="0F2038"/>
          </a:solidFill>
          <a:ln w="12700">
            <a:solidFill>
              <a:srgbClr val="2D6EE8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310128" y="1051560"/>
            <a:ext cx="502920" cy="1078992"/>
          </a:xfrm>
          <a:prstGeom prst="rect">
            <a:avLst/>
          </a:prstGeom>
          <a:solidFill>
            <a:srgbClr val="2D6EE8"/>
          </a:solidFill>
          <a:ln w="12700">
            <a:solidFill>
              <a:srgbClr val="2D6EE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10128" y="1051560"/>
            <a:ext cx="50292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60D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877056" y="114300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시스템 아키텍처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877056" y="1600200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99AA"/>
                </a:solidFill>
              </a:rPr>
              <a:t>전체 구조 및 기술 스택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163056" y="1051560"/>
            <a:ext cx="2651760" cy="1078992"/>
          </a:xfrm>
          <a:prstGeom prst="rect">
            <a:avLst/>
          </a:prstGeom>
          <a:solidFill>
            <a:srgbClr val="0F2038"/>
          </a:solidFill>
          <a:ln w="12700">
            <a:solidFill>
              <a:srgbClr val="F59E0B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163056" y="1051560"/>
            <a:ext cx="502920" cy="107899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63056" y="1051560"/>
            <a:ext cx="50292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60D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729984" y="114300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주요 기능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729984" y="1600200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99AA"/>
                </a:solidFill>
              </a:rPr>
              <a:t>실시간 감시 · 이벤트 관리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57200" y="2313432"/>
            <a:ext cx="2651760" cy="1078992"/>
          </a:xfrm>
          <a:prstGeom prst="rect">
            <a:avLst/>
          </a:prstGeom>
          <a:solidFill>
            <a:srgbClr val="0F2038"/>
          </a:solidFill>
          <a:ln w="12700">
            <a:solidFill>
              <a:srgbClr val="F43F5E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57200" y="2313432"/>
            <a:ext cx="502920" cy="1078992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2313432"/>
            <a:ext cx="50292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60D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024128" y="2404872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보안 설계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024128" y="2862072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99AA"/>
                </a:solidFill>
              </a:rPr>
              <a:t>JWT · WebSocket 인증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310128" y="2313432"/>
            <a:ext cx="2651760" cy="1078992"/>
          </a:xfrm>
          <a:prstGeom prst="rect">
            <a:avLst/>
          </a:prstGeom>
          <a:solidFill>
            <a:srgbClr val="0F2038"/>
          </a:solidFill>
          <a:ln w="12700">
            <a:solidFill>
              <a:srgbClr val="A855F7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310128" y="2313432"/>
            <a:ext cx="502920" cy="1078992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310128" y="2313432"/>
            <a:ext cx="50292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60D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05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3877056" y="2404872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AI 모델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3877056" y="2862072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99AA"/>
                </a:solidFill>
              </a:rPr>
              <a:t>YOLOv8 + ByteTrack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6163056" y="2313432"/>
            <a:ext cx="2651760" cy="1078992"/>
          </a:xfrm>
          <a:prstGeom prst="rect">
            <a:avLst/>
          </a:prstGeom>
          <a:solidFill>
            <a:srgbClr val="0F2038"/>
          </a:solidFill>
          <a:ln w="12700">
            <a:solidFill>
              <a:srgbClr val="00D4AA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163056" y="2313432"/>
            <a:ext cx="502920" cy="1078992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163056" y="2313432"/>
            <a:ext cx="50292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60D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06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729984" y="2404872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처리 흐름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729984" y="2862072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99AA"/>
                </a:solidFill>
              </a:rPr>
              <a:t>End-to-End 프로세스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57200" y="3575304"/>
            <a:ext cx="2651760" cy="1078992"/>
          </a:xfrm>
          <a:prstGeom prst="rect">
            <a:avLst/>
          </a:prstGeom>
          <a:solidFill>
            <a:srgbClr val="0F2038"/>
          </a:solidFill>
          <a:ln w="12700">
            <a:solidFill>
              <a:srgbClr val="F59E0B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57200" y="3575304"/>
            <a:ext cx="502920" cy="107899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57200" y="3575304"/>
            <a:ext cx="50292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60D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07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1024128" y="3666744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DB 스키마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1024128" y="4123944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99AA"/>
                </a:solidFill>
              </a:rPr>
              <a:t>테이블 설계 및 관계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3310128" y="3575304"/>
            <a:ext cx="2651760" cy="1078992"/>
          </a:xfrm>
          <a:prstGeom prst="rect">
            <a:avLst/>
          </a:prstGeom>
          <a:solidFill>
            <a:srgbClr val="0F2038"/>
          </a:solidFill>
          <a:ln w="12700">
            <a:solidFill>
              <a:srgbClr val="2D6EE8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3310128" y="3575304"/>
            <a:ext cx="502920" cy="1078992"/>
          </a:xfrm>
          <a:prstGeom prst="rect">
            <a:avLst/>
          </a:prstGeom>
          <a:solidFill>
            <a:srgbClr val="2D6EE8"/>
          </a:solidFill>
          <a:ln w="12700">
            <a:solidFill>
              <a:srgbClr val="2D6EE8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310128" y="3575304"/>
            <a:ext cx="50292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60D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08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3877056" y="3666744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API 엔드포인트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3877056" y="4123944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99AA"/>
                </a:solidFill>
              </a:rPr>
              <a:t>REST API 명세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6163056" y="3575304"/>
            <a:ext cx="2651760" cy="1078992"/>
          </a:xfrm>
          <a:prstGeom prst="rect">
            <a:avLst/>
          </a:prstGeom>
          <a:solidFill>
            <a:srgbClr val="0F2038"/>
          </a:solidFill>
          <a:ln w="12700">
            <a:solidFill>
              <a:srgbClr val="A855F7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6163056" y="3575304"/>
            <a:ext cx="502920" cy="1078992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163056" y="3575304"/>
            <a:ext cx="50292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60D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09</a:t>
            </a:r>
            <a:endParaRPr lang="en-US" sz="1400" dirty="0"/>
          </a:p>
        </p:txBody>
      </p:sp>
      <p:sp>
        <p:nvSpPr>
          <p:cNvPr id="48" name="Text 46"/>
          <p:cNvSpPr/>
          <p:nvPr/>
        </p:nvSpPr>
        <p:spPr>
          <a:xfrm>
            <a:off x="6729984" y="3666744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개발 현황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6729984" y="4123944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99AA"/>
                </a:solidFill>
              </a:rPr>
              <a:t>진행률 및 스케줄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8503920" y="4846320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99AA"/>
                </a:solidFill>
              </a:rPr>
              <a:t>3 / 14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6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2038"/>
          </a:solidFill>
          <a:ln w="12700">
            <a:solidFill>
              <a:srgbClr val="0F203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914400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371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  프로젝트 개요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74320" y="1051560"/>
            <a:ext cx="4114800" cy="3566160"/>
          </a:xfrm>
          <a:prstGeom prst="rect">
            <a:avLst/>
          </a:prstGeom>
          <a:solidFill>
            <a:srgbClr val="0F2038"/>
          </a:solidFill>
          <a:ln w="15240">
            <a:solidFill>
              <a:srgbClr val="F43F5E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051560"/>
            <a:ext cx="4114800" cy="347472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05156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⚠  문제 상황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11480" y="1481328"/>
            <a:ext cx="384048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000" dirty="0">
                <a:solidFill>
                  <a:srgbClr val="B0C4D8"/>
                </a:solidFill>
              </a:rPr>
              <a:t>산업 현장 PPE(안전모·안전조끼 등) 미착용 사고 다수</a:t>
            </a:r>
            <a:endParaRPr lang="en-US" sz="10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000" dirty="0">
                <a:solidFill>
                  <a:srgbClr val="B0C4D8"/>
                </a:solidFill>
              </a:rPr>
              <a:t>기존 육안 감시 방식: 비용 高 · 정확도 低</a:t>
            </a:r>
            <a:endParaRPr lang="en-US" sz="10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000" dirty="0">
                <a:solidFill>
                  <a:srgbClr val="B0C4D8"/>
                </a:solidFill>
              </a:rPr>
              <a:t>사고 발생 시 즉각 대응 체계 부재</a:t>
            </a:r>
            <a:endParaRPr lang="en-US" sz="10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000" dirty="0">
                <a:solidFill>
                  <a:srgbClr val="B0C4D8"/>
                </a:solidFill>
              </a:rPr>
              <a:t>관리자 실시간 현황 파악 불가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11480" y="3749040"/>
            <a:ext cx="3749040" cy="640080"/>
          </a:xfrm>
          <a:prstGeom prst="rect">
            <a:avLst/>
          </a:prstGeom>
          <a:solidFill>
            <a:srgbClr val="060D1A"/>
          </a:solidFill>
          <a:ln w="10160">
            <a:solidFill>
              <a:srgbClr val="F43F5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3749040"/>
            <a:ext cx="3749040" cy="6400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F43F5E"/>
                </a:solidFill>
              </a:rPr>
              <a:t>산업재해 사망자 중 PPE 미착용 비율 약 62%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663440" y="1051560"/>
            <a:ext cx="4206240" cy="3566160"/>
          </a:xfrm>
          <a:prstGeom prst="rect">
            <a:avLst/>
          </a:prstGeom>
          <a:solidFill>
            <a:srgbClr val="0F2038"/>
          </a:solidFill>
          <a:ln w="15240">
            <a:solidFill>
              <a:srgbClr val="00D4AA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663440" y="1051560"/>
            <a:ext cx="4206240" cy="347472"/>
          </a:xfrm>
          <a:prstGeom prst="rect">
            <a:avLst/>
          </a:prstGeom>
          <a:solidFill>
            <a:srgbClr val="00B894"/>
          </a:solidFill>
          <a:ln w="12700">
            <a:solidFill>
              <a:srgbClr val="00B89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63440" y="1051560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60D1A"/>
                </a:solidFill>
              </a:rPr>
              <a:t>✔  솔루션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754880" y="1554480"/>
            <a:ext cx="274320" cy="274320"/>
          </a:xfrm>
          <a:prstGeom prst="ellipse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102352" y="150876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D4AA"/>
                </a:solidFill>
              </a:rPr>
              <a:t>YOLOv8 AI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263640" y="150876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0C4D8"/>
                </a:solidFill>
              </a:rPr>
              <a:t>실시간 PPE 탈락 객체 탐지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754880" y="2194560"/>
            <a:ext cx="274320" cy="274320"/>
          </a:xfrm>
          <a:prstGeom prst="ellipse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102352" y="214884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D4AA"/>
                </a:solidFill>
              </a:rPr>
              <a:t>ByteTrack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263640" y="214884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0C4D8"/>
                </a:solidFill>
              </a:rPr>
              <a:t>다중 객체 연속 추적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754880" y="2834640"/>
            <a:ext cx="274320" cy="274320"/>
          </a:xfrm>
          <a:prstGeom prst="ellipse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102352" y="278892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D4AA"/>
                </a:solidFill>
              </a:rPr>
              <a:t>실시간 알림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263640" y="278892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0C4D8"/>
                </a:solidFill>
              </a:rPr>
              <a:t>WebSocket STOMP 즉각 전송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754880" y="3474720"/>
            <a:ext cx="274320" cy="274320"/>
          </a:xfrm>
          <a:prstGeom prst="ellipse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102352" y="342900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D4AA"/>
                </a:solidFill>
              </a:rPr>
              <a:t>이벤트 관리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263640" y="342900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0C4D8"/>
                </a:solidFill>
              </a:rPr>
              <a:t>4단계 상태 처리 워크플로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754880" y="4114800"/>
            <a:ext cx="274320" cy="274320"/>
          </a:xfrm>
          <a:prstGeom prst="ellipse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102352" y="406908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D4AA"/>
                </a:solidFill>
              </a:rPr>
              <a:t>대시보드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263640" y="406908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0C4D8"/>
                </a:solidFill>
              </a:rPr>
              <a:t>관리자 웹 모니터링 UI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8503920" y="4846320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99AA"/>
                </a:solidFill>
              </a:rPr>
              <a:t>4 / 14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6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2038"/>
          </a:solidFill>
          <a:ln w="12700">
            <a:solidFill>
              <a:srgbClr val="0F203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914400"/>
          </a:xfrm>
          <a:prstGeom prst="rect">
            <a:avLst/>
          </a:prstGeom>
          <a:solidFill>
            <a:srgbClr val="2D6EE8"/>
          </a:solidFill>
          <a:ln w="12700">
            <a:solidFill>
              <a:srgbClr val="2D6EE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371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  시스템 아키텍처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182880" y="1051560"/>
            <a:ext cx="2651760" cy="3520440"/>
          </a:xfrm>
          <a:prstGeom prst="rect">
            <a:avLst/>
          </a:prstGeom>
          <a:solidFill>
            <a:srgbClr val="0F2038"/>
          </a:solidFill>
          <a:ln w="19050">
            <a:solidFill>
              <a:srgbClr val="A855F7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82880" y="1051560"/>
            <a:ext cx="2651760" cy="411480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82880" y="105156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60D1A"/>
                </a:solidFill>
              </a:rPr>
              <a:t>CCTV / AI 서버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20040" y="1554480"/>
            <a:ext cx="237744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1000"/>
              </a:spcAft>
              <a:buNone/>
            </a:pPr>
            <a:r>
              <a:rPr lang="en-US" sz="1000" dirty="0">
                <a:solidFill>
                  <a:srgbClr val="B0C4D8"/>
                </a:solidFill>
              </a:rPr>
              <a:t>CCTV 스트림 수신</a:t>
            </a:r>
            <a:endParaRPr lang="en-US" sz="10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000" dirty="0">
                <a:solidFill>
                  <a:srgbClr val="B0C4D8"/>
                </a:solidFill>
              </a:rPr>
              <a:t>YOLOv8 객체 탐지</a:t>
            </a:r>
            <a:endParaRPr lang="en-US" sz="10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000" dirty="0">
                <a:solidFill>
                  <a:srgbClr val="B0C4D8"/>
                </a:solidFill>
              </a:rPr>
              <a:t>ByteTrack 추적</a:t>
            </a:r>
            <a:endParaRPr lang="en-US" sz="10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000" dirty="0">
                <a:solidFill>
                  <a:srgbClr val="B0C4D8"/>
                </a:solidFill>
              </a:rPr>
              <a:t>FastAPI 이벤트 전송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91840" y="1051560"/>
            <a:ext cx="2651760" cy="3520440"/>
          </a:xfrm>
          <a:prstGeom prst="rect">
            <a:avLst/>
          </a:prstGeom>
          <a:solidFill>
            <a:srgbClr val="0F2038"/>
          </a:solidFill>
          <a:ln w="19050">
            <a:solidFill>
              <a:srgbClr val="2D6EE8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91840" y="1051560"/>
            <a:ext cx="2651760" cy="411480"/>
          </a:xfrm>
          <a:prstGeom prst="rect">
            <a:avLst/>
          </a:prstGeom>
          <a:solidFill>
            <a:srgbClr val="2D6EE8"/>
          </a:solidFill>
          <a:ln w="12700">
            <a:solidFill>
              <a:srgbClr val="2D6EE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91840" y="105156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60D1A"/>
                </a:solidFill>
              </a:rPr>
              <a:t>Spring Boot 서버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429000" y="1554480"/>
            <a:ext cx="237744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1000"/>
              </a:spcAft>
              <a:buNone/>
            </a:pPr>
            <a:r>
              <a:rPr lang="en-US" sz="1000" dirty="0">
                <a:solidFill>
                  <a:srgbClr val="B0C4D8"/>
                </a:solidFill>
              </a:rPr>
              <a:t>REST API (JWT 인증)</a:t>
            </a:r>
            <a:endParaRPr lang="en-US" sz="10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000" dirty="0">
                <a:solidFill>
                  <a:srgbClr val="B0C4D8"/>
                </a:solidFill>
              </a:rPr>
              <a:t>WebSocket STOMP</a:t>
            </a:r>
            <a:endParaRPr lang="en-US" sz="10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000" dirty="0">
                <a:solidFill>
                  <a:srgbClr val="B0C4D8"/>
                </a:solidFill>
              </a:rPr>
              <a:t>이벤트 관리 서비스</a:t>
            </a:r>
            <a:endParaRPr lang="en-US" sz="10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000" dirty="0">
                <a:solidFill>
                  <a:srgbClr val="B0C4D8"/>
                </a:solidFill>
              </a:rPr>
              <a:t>MySQL 데이터 저장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355080" y="1051560"/>
            <a:ext cx="2651760" cy="3520440"/>
          </a:xfrm>
          <a:prstGeom prst="rect">
            <a:avLst/>
          </a:prstGeom>
          <a:solidFill>
            <a:srgbClr val="0F2038"/>
          </a:solidFill>
          <a:ln w="19050">
            <a:solidFill>
              <a:srgbClr val="00D4AA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355080" y="1051560"/>
            <a:ext cx="2651760" cy="411480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55080" y="105156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60D1A"/>
                </a:solidFill>
              </a:rPr>
              <a:t>React 프론트엔드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492240" y="1554480"/>
            <a:ext cx="237744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1000"/>
              </a:spcAft>
              <a:buNone/>
            </a:pPr>
            <a:r>
              <a:rPr lang="en-US" sz="1000" dirty="0">
                <a:solidFill>
                  <a:srgbClr val="B0C4D8"/>
                </a:solidFill>
              </a:rPr>
              <a:t>실시간 알림 대시보드</a:t>
            </a:r>
            <a:endParaRPr lang="en-US" sz="10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000" dirty="0">
                <a:solidFill>
                  <a:srgbClr val="B0C4D8"/>
                </a:solidFill>
              </a:rPr>
              <a:t>이벤트 상태 관리</a:t>
            </a:r>
            <a:endParaRPr lang="en-US" sz="10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000" dirty="0">
                <a:solidFill>
                  <a:srgbClr val="B0C4D8"/>
                </a:solidFill>
              </a:rPr>
              <a:t>STOMP 구독</a:t>
            </a:r>
            <a:endParaRPr lang="en-US" sz="10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000" dirty="0">
                <a:solidFill>
                  <a:srgbClr val="B0C4D8"/>
                </a:solidFill>
              </a:rPr>
              <a:t>JWT 인증 연동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063240" y="1965960"/>
            <a:ext cx="0" cy="457200"/>
          </a:xfrm>
          <a:prstGeom prst="line">
            <a:avLst/>
          </a:prstGeom>
          <a:noFill/>
          <a:ln w="15240">
            <a:solidFill>
              <a:srgbClr val="F59E0B"/>
            </a:solidFill>
            <a:prstDash val="dash"/>
          </a:ln>
        </p:spPr>
      </p:sp>
      <p:sp>
        <p:nvSpPr>
          <p:cNvPr id="18" name="Text 16"/>
          <p:cNvSpPr/>
          <p:nvPr/>
        </p:nvSpPr>
        <p:spPr>
          <a:xfrm>
            <a:off x="2834640" y="233172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59E0B"/>
                </a:solidFill>
              </a:rPr>
              <a:t>▶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2514600" y="3337560"/>
            <a:ext cx="1097280" cy="548640"/>
          </a:xfrm>
          <a:prstGeom prst="rect">
            <a:avLst/>
          </a:prstGeom>
          <a:solidFill>
            <a:srgbClr val="060D1A"/>
          </a:solidFill>
          <a:ln w="11430">
            <a:solidFill>
              <a:srgbClr val="F59E0B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2514600" y="3337560"/>
            <a:ext cx="1097280" cy="548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59E0B"/>
                </a:solidFill>
              </a:rPr>
              <a:t>HTTP POST</a:t>
            </a:r>
            <a:endParaRPr lang="en-US" sz="85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8899AA"/>
                </a:solidFill>
              </a:rPr>
              <a:t>이벤트 전송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063240" y="2743200"/>
            <a:ext cx="0" cy="594360"/>
          </a:xfrm>
          <a:prstGeom prst="line">
            <a:avLst/>
          </a:prstGeom>
          <a:noFill/>
          <a:ln w="10160">
            <a:solidFill>
              <a:srgbClr val="F59E0B"/>
            </a:solidFill>
            <a:prstDash val="sysDash"/>
          </a:ln>
        </p:spPr>
      </p:sp>
      <p:sp>
        <p:nvSpPr>
          <p:cNvPr id="22" name="Shape 20"/>
          <p:cNvSpPr/>
          <p:nvPr/>
        </p:nvSpPr>
        <p:spPr>
          <a:xfrm>
            <a:off x="6172200" y="1965960"/>
            <a:ext cx="0" cy="457200"/>
          </a:xfrm>
          <a:prstGeom prst="line">
            <a:avLst/>
          </a:prstGeom>
          <a:noFill/>
          <a:ln w="15240">
            <a:solidFill>
              <a:srgbClr val="F59E0B"/>
            </a:solidFill>
            <a:prstDash val="dash"/>
          </a:ln>
        </p:spPr>
      </p:sp>
      <p:sp>
        <p:nvSpPr>
          <p:cNvPr id="23" name="Text 21"/>
          <p:cNvSpPr/>
          <p:nvPr/>
        </p:nvSpPr>
        <p:spPr>
          <a:xfrm>
            <a:off x="5943600" y="233172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59E0B"/>
                </a:solidFill>
              </a:rPr>
              <a:t>▶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5623560" y="3337560"/>
            <a:ext cx="1097280" cy="548640"/>
          </a:xfrm>
          <a:prstGeom prst="rect">
            <a:avLst/>
          </a:prstGeom>
          <a:solidFill>
            <a:srgbClr val="060D1A"/>
          </a:solidFill>
          <a:ln w="11430">
            <a:solidFill>
              <a:srgbClr val="F59E0B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5623560" y="3337560"/>
            <a:ext cx="1097280" cy="548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59E0B"/>
                </a:solidFill>
              </a:rPr>
              <a:t>HTTP + WS</a:t>
            </a:r>
            <a:endParaRPr lang="en-US" sz="85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8899AA"/>
                </a:solidFill>
              </a:rPr>
              <a:t>실시간 연동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6172200" y="2743200"/>
            <a:ext cx="0" cy="594360"/>
          </a:xfrm>
          <a:prstGeom prst="line">
            <a:avLst/>
          </a:prstGeom>
          <a:noFill/>
          <a:ln w="10160">
            <a:solidFill>
              <a:srgbClr val="F59E0B"/>
            </a:solidFill>
            <a:prstDash val="sysDash"/>
          </a:ln>
        </p:spPr>
      </p:sp>
      <p:sp>
        <p:nvSpPr>
          <p:cNvPr id="27" name="Text 25"/>
          <p:cNvSpPr/>
          <p:nvPr/>
        </p:nvSpPr>
        <p:spPr>
          <a:xfrm>
            <a:off x="4434840" y="44165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59E0B"/>
                </a:solidFill>
              </a:rPr>
              <a:t>↕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3383280" y="4690872"/>
            <a:ext cx="2468880" cy="347472"/>
          </a:xfrm>
          <a:prstGeom prst="rect">
            <a:avLst/>
          </a:prstGeom>
          <a:solidFill>
            <a:srgbClr val="122644"/>
          </a:solidFill>
          <a:ln w="15240">
            <a:solidFill>
              <a:srgbClr val="F59E0B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3383280" y="4690872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59E0B"/>
                </a:solidFill>
              </a:rPr>
              <a:t>MySQL Database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8412480" y="4892040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99AA"/>
                </a:solidFill>
              </a:rPr>
              <a:t>5 / 14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6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2038"/>
          </a:solidFill>
          <a:ln w="12700">
            <a:solidFill>
              <a:srgbClr val="0F203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9144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371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기술 스택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4160520" cy="1828800"/>
          </a:xfrm>
          <a:prstGeom prst="rect">
            <a:avLst/>
          </a:prstGeom>
          <a:solidFill>
            <a:srgbClr val="0F2038"/>
          </a:solidFill>
          <a:ln w="15240">
            <a:solidFill>
              <a:srgbClr val="A855F7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005840"/>
            <a:ext cx="4160520" cy="347472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005840"/>
            <a:ext cx="4160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60D1A"/>
                </a:solidFill>
              </a:rPr>
              <a:t>AI / Detection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11480" y="1444752"/>
            <a:ext cx="1188720" cy="329184"/>
          </a:xfrm>
          <a:prstGeom prst="rect">
            <a:avLst/>
          </a:prstGeom>
          <a:solidFill>
            <a:srgbClr val="060D1A"/>
          </a:solidFill>
          <a:ln w="7620">
            <a:solidFill>
              <a:srgbClr val="A855F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1444752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B0C4D8"/>
                </a:solidFill>
              </a:rPr>
              <a:t>Python 3.11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1673352" y="1444752"/>
            <a:ext cx="1188720" cy="329184"/>
          </a:xfrm>
          <a:prstGeom prst="rect">
            <a:avLst/>
          </a:prstGeom>
          <a:solidFill>
            <a:srgbClr val="060D1A"/>
          </a:solidFill>
          <a:ln w="7620">
            <a:solidFill>
              <a:srgbClr val="A855F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73352" y="1444752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B0C4D8"/>
                </a:solidFill>
              </a:rPr>
              <a:t>YOLOv8 (Ultralytics)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2935224" y="1444752"/>
            <a:ext cx="1188720" cy="329184"/>
          </a:xfrm>
          <a:prstGeom prst="rect">
            <a:avLst/>
          </a:prstGeom>
          <a:solidFill>
            <a:srgbClr val="060D1A"/>
          </a:solidFill>
          <a:ln w="7620">
            <a:solidFill>
              <a:srgbClr val="A855F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935224" y="1444752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B0C4D8"/>
                </a:solidFill>
              </a:rPr>
              <a:t>ByteTrack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411480" y="1828800"/>
            <a:ext cx="1188720" cy="329184"/>
          </a:xfrm>
          <a:prstGeom prst="rect">
            <a:avLst/>
          </a:prstGeom>
          <a:solidFill>
            <a:srgbClr val="060D1A"/>
          </a:solidFill>
          <a:ln w="7620">
            <a:solidFill>
              <a:srgbClr val="A855F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1480" y="1828800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B0C4D8"/>
                </a:solidFill>
              </a:rPr>
              <a:t>OpenCV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1673352" y="1828800"/>
            <a:ext cx="1188720" cy="329184"/>
          </a:xfrm>
          <a:prstGeom prst="rect">
            <a:avLst/>
          </a:prstGeom>
          <a:solidFill>
            <a:srgbClr val="060D1A"/>
          </a:solidFill>
          <a:ln w="7620">
            <a:solidFill>
              <a:srgbClr val="A855F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73352" y="1828800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B0C4D8"/>
                </a:solidFill>
              </a:rPr>
              <a:t>FastAPI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4709160" y="1005840"/>
            <a:ext cx="4160520" cy="1828800"/>
          </a:xfrm>
          <a:prstGeom prst="rect">
            <a:avLst/>
          </a:prstGeom>
          <a:solidFill>
            <a:srgbClr val="0F2038"/>
          </a:solidFill>
          <a:ln w="15240">
            <a:solidFill>
              <a:srgbClr val="2D6EE8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709160" y="1005840"/>
            <a:ext cx="4160520" cy="347472"/>
          </a:xfrm>
          <a:prstGeom prst="rect">
            <a:avLst/>
          </a:prstGeom>
          <a:solidFill>
            <a:srgbClr val="2D6EE8"/>
          </a:solidFill>
          <a:ln w="12700">
            <a:solidFill>
              <a:srgbClr val="2D6EE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09160" y="1005840"/>
            <a:ext cx="4160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60D1A"/>
                </a:solidFill>
              </a:rPr>
              <a:t>Backend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846320" y="1444752"/>
            <a:ext cx="1188720" cy="329184"/>
          </a:xfrm>
          <a:prstGeom prst="rect">
            <a:avLst/>
          </a:prstGeom>
          <a:solidFill>
            <a:srgbClr val="060D1A"/>
          </a:solidFill>
          <a:ln w="7620">
            <a:solidFill>
              <a:srgbClr val="2D6EE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46320" y="1444752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B0C4D8"/>
                </a:solidFill>
              </a:rPr>
              <a:t>Java 17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6108192" y="1444752"/>
            <a:ext cx="1188720" cy="329184"/>
          </a:xfrm>
          <a:prstGeom prst="rect">
            <a:avLst/>
          </a:prstGeom>
          <a:solidFill>
            <a:srgbClr val="060D1A"/>
          </a:solidFill>
          <a:ln w="7620">
            <a:solidFill>
              <a:srgbClr val="2D6EE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108192" y="1444752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B0C4D8"/>
                </a:solidFill>
              </a:rPr>
              <a:t>Spring Boot 3.x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7370064" y="1444752"/>
            <a:ext cx="1188720" cy="329184"/>
          </a:xfrm>
          <a:prstGeom prst="rect">
            <a:avLst/>
          </a:prstGeom>
          <a:solidFill>
            <a:srgbClr val="060D1A"/>
          </a:solidFill>
          <a:ln w="7620">
            <a:solidFill>
              <a:srgbClr val="2D6EE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370064" y="1444752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B0C4D8"/>
                </a:solidFill>
              </a:rPr>
              <a:t>Spring Data JPA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4846320" y="1828800"/>
            <a:ext cx="1188720" cy="329184"/>
          </a:xfrm>
          <a:prstGeom prst="rect">
            <a:avLst/>
          </a:prstGeom>
          <a:solidFill>
            <a:srgbClr val="060D1A"/>
          </a:solidFill>
          <a:ln w="7620">
            <a:solidFill>
              <a:srgbClr val="2D6EE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46320" y="1828800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B0C4D8"/>
                </a:solidFill>
              </a:rPr>
              <a:t>MySQL 8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6108192" y="1828800"/>
            <a:ext cx="1188720" cy="329184"/>
          </a:xfrm>
          <a:prstGeom prst="rect">
            <a:avLst/>
          </a:prstGeom>
          <a:solidFill>
            <a:srgbClr val="060D1A"/>
          </a:solidFill>
          <a:ln w="7620">
            <a:solidFill>
              <a:srgbClr val="2D6EE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108192" y="1828800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B0C4D8"/>
                </a:solidFill>
              </a:rPr>
              <a:t>JWT (jjwt 0.12.3)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274320" y="3063240"/>
            <a:ext cx="4160520" cy="1828800"/>
          </a:xfrm>
          <a:prstGeom prst="rect">
            <a:avLst/>
          </a:prstGeom>
          <a:solidFill>
            <a:srgbClr val="0F2038"/>
          </a:solidFill>
          <a:ln w="15240">
            <a:solidFill>
              <a:srgbClr val="00D4AA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274320" y="3063240"/>
            <a:ext cx="4160520" cy="347472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74320" y="3063240"/>
            <a:ext cx="4160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60D1A"/>
                </a:solidFill>
              </a:rPr>
              <a:t>Frontend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11480" y="3502152"/>
            <a:ext cx="1188720" cy="329184"/>
          </a:xfrm>
          <a:prstGeom prst="rect">
            <a:avLst/>
          </a:prstGeom>
          <a:solidFill>
            <a:srgbClr val="060D1A"/>
          </a:solidFill>
          <a:ln w="7620">
            <a:solidFill>
              <a:srgbClr val="00D4A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11480" y="3502152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B0C4D8"/>
                </a:solidFill>
              </a:rPr>
              <a:t>React 19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1673352" y="3502152"/>
            <a:ext cx="1188720" cy="329184"/>
          </a:xfrm>
          <a:prstGeom prst="rect">
            <a:avLst/>
          </a:prstGeom>
          <a:solidFill>
            <a:srgbClr val="060D1A"/>
          </a:solidFill>
          <a:ln w="7620">
            <a:solidFill>
              <a:srgbClr val="00D4A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673352" y="3502152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B0C4D8"/>
                </a:solidFill>
              </a:rPr>
              <a:t>Vite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2935224" y="3502152"/>
            <a:ext cx="1188720" cy="329184"/>
          </a:xfrm>
          <a:prstGeom prst="rect">
            <a:avLst/>
          </a:prstGeom>
          <a:solidFill>
            <a:srgbClr val="060D1A"/>
          </a:solidFill>
          <a:ln w="7620">
            <a:solidFill>
              <a:srgbClr val="00D4A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935224" y="3502152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B0C4D8"/>
                </a:solidFill>
              </a:rPr>
              <a:t>STOMP / SockJS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411480" y="3886200"/>
            <a:ext cx="1188720" cy="329184"/>
          </a:xfrm>
          <a:prstGeom prst="rect">
            <a:avLst/>
          </a:prstGeom>
          <a:solidFill>
            <a:srgbClr val="060D1A"/>
          </a:solidFill>
          <a:ln w="7620">
            <a:solidFill>
              <a:srgbClr val="00D4A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11480" y="3886200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B0C4D8"/>
                </a:solidFill>
              </a:rPr>
              <a:t>Axios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1673352" y="3886200"/>
            <a:ext cx="1188720" cy="329184"/>
          </a:xfrm>
          <a:prstGeom prst="rect">
            <a:avLst/>
          </a:prstGeom>
          <a:solidFill>
            <a:srgbClr val="060D1A"/>
          </a:solidFill>
          <a:ln w="7620">
            <a:solidFill>
              <a:srgbClr val="00D4A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673352" y="3886200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B0C4D8"/>
                </a:solidFill>
              </a:rPr>
              <a:t>CSS Modules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4709160" y="3063240"/>
            <a:ext cx="4160520" cy="1828800"/>
          </a:xfrm>
          <a:prstGeom prst="rect">
            <a:avLst/>
          </a:prstGeom>
          <a:solidFill>
            <a:srgbClr val="0F2038"/>
          </a:solidFill>
          <a:ln w="15240">
            <a:solidFill>
              <a:srgbClr val="F59E0B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4709160" y="3063240"/>
            <a:ext cx="4160520" cy="34747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709160" y="3063240"/>
            <a:ext cx="4160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60D1A"/>
                </a:solidFill>
              </a:rPr>
              <a:t>Infra / DevOps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4846320" y="3502152"/>
            <a:ext cx="1188720" cy="329184"/>
          </a:xfrm>
          <a:prstGeom prst="rect">
            <a:avLst/>
          </a:prstGeom>
          <a:solidFill>
            <a:srgbClr val="060D1A"/>
          </a:solidFill>
          <a:ln w="7620">
            <a:solidFill>
              <a:srgbClr val="F59E0B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846320" y="3502152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B0C4D8"/>
                </a:solidFill>
              </a:rPr>
              <a:t>Windows Server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6108192" y="3502152"/>
            <a:ext cx="1188720" cy="329184"/>
          </a:xfrm>
          <a:prstGeom prst="rect">
            <a:avLst/>
          </a:prstGeom>
          <a:solidFill>
            <a:srgbClr val="060D1A"/>
          </a:solidFill>
          <a:ln w="7620">
            <a:solidFill>
              <a:srgbClr val="F59E0B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108192" y="3502152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B0C4D8"/>
                </a:solidFill>
              </a:rPr>
              <a:t>start.bat 실행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7370064" y="3502152"/>
            <a:ext cx="1188720" cy="329184"/>
          </a:xfrm>
          <a:prstGeom prst="rect">
            <a:avLst/>
          </a:prstGeom>
          <a:solidFill>
            <a:srgbClr val="060D1A"/>
          </a:solidFill>
          <a:ln w="7620">
            <a:solidFill>
              <a:srgbClr val="F59E0B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7370064" y="3502152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B0C4D8"/>
                </a:solidFill>
              </a:rPr>
              <a:t>LibreOffice (보고)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4846320" y="3886200"/>
            <a:ext cx="1188720" cy="329184"/>
          </a:xfrm>
          <a:prstGeom prst="rect">
            <a:avLst/>
          </a:prstGeom>
          <a:solidFill>
            <a:srgbClr val="060D1A"/>
          </a:solidFill>
          <a:ln w="7620">
            <a:solidFill>
              <a:srgbClr val="F59E0B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846320" y="3886200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B0C4D8"/>
                </a:solidFill>
              </a:rPr>
              <a:t>Git / GitHub</a:t>
            </a:r>
            <a:endParaRPr lang="en-US" sz="850" dirty="0"/>
          </a:p>
        </p:txBody>
      </p:sp>
      <p:sp>
        <p:nvSpPr>
          <p:cNvPr id="55" name="Shape 53"/>
          <p:cNvSpPr/>
          <p:nvPr/>
        </p:nvSpPr>
        <p:spPr>
          <a:xfrm>
            <a:off x="6108192" y="3886200"/>
            <a:ext cx="1188720" cy="329184"/>
          </a:xfrm>
          <a:prstGeom prst="rect">
            <a:avLst/>
          </a:prstGeom>
          <a:solidFill>
            <a:srgbClr val="060D1A"/>
          </a:solidFill>
          <a:ln w="7620">
            <a:solidFill>
              <a:srgbClr val="F59E0B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108192" y="3886200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B0C4D8"/>
                </a:solidFill>
              </a:rPr>
              <a:t>IntelliJ IDEA</a:t>
            </a:r>
            <a:endParaRPr lang="en-US" sz="850" dirty="0"/>
          </a:p>
        </p:txBody>
      </p:sp>
      <p:sp>
        <p:nvSpPr>
          <p:cNvPr id="57" name="Text 55"/>
          <p:cNvSpPr/>
          <p:nvPr/>
        </p:nvSpPr>
        <p:spPr>
          <a:xfrm>
            <a:off x="8503920" y="4846320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99AA"/>
                </a:solidFill>
              </a:rPr>
              <a:t>6 / 14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6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2038"/>
          </a:solidFill>
          <a:ln w="12700">
            <a:solidFill>
              <a:srgbClr val="0F203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9144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371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  주요 기능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20040" y="1005840"/>
            <a:ext cx="2697480" cy="1554480"/>
          </a:xfrm>
          <a:prstGeom prst="rect">
            <a:avLst/>
          </a:prstGeom>
          <a:solidFill>
            <a:srgbClr val="0F2038"/>
          </a:solidFill>
          <a:ln w="15240">
            <a:solidFill>
              <a:srgbClr val="00D4AA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005840"/>
            <a:ext cx="54864" cy="1554480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1430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📹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502920" y="1572768"/>
            <a:ext cx="2423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D4A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실시간 감시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02920" y="1901952"/>
            <a:ext cx="2423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0C4D8"/>
                </a:solidFill>
              </a:rPr>
              <a:t>YOLOv8으로 CCTV 영상에서 안전모·조끼 미착용 즉시 탐지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3218688" y="1005840"/>
            <a:ext cx="2697480" cy="1554480"/>
          </a:xfrm>
          <a:prstGeom prst="rect">
            <a:avLst/>
          </a:prstGeom>
          <a:solidFill>
            <a:srgbClr val="0F2038"/>
          </a:solidFill>
          <a:ln w="15240">
            <a:solidFill>
              <a:srgbClr val="F43F5E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18688" y="1005840"/>
            <a:ext cx="54864" cy="1554480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55848" y="11430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🔔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3401568" y="1572768"/>
            <a:ext cx="2423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43F5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실시간 알림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401568" y="1901952"/>
            <a:ext cx="2423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0C4D8"/>
                </a:solidFill>
              </a:rPr>
              <a:t>STOMP WebSocket으로 위반 감지 즉시 관리자에게 Push 알림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6117336" y="1005840"/>
            <a:ext cx="2697480" cy="1554480"/>
          </a:xfrm>
          <a:prstGeom prst="rect">
            <a:avLst/>
          </a:prstGeom>
          <a:solidFill>
            <a:srgbClr val="0F2038"/>
          </a:solidFill>
          <a:ln w="15240">
            <a:solidFill>
              <a:srgbClr val="F59E0B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117336" y="1005840"/>
            <a:ext cx="54864" cy="15544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54496" y="11430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📸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6300216" y="1572768"/>
            <a:ext cx="2423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이미지 스냅샷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300216" y="1901952"/>
            <a:ext cx="2423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0C4D8"/>
                </a:solidFill>
              </a:rPr>
              <a:t>위반 순간 JPEG 캡처 저장 → REST API로 이미지 서빙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320040" y="2761488"/>
            <a:ext cx="2697480" cy="1554480"/>
          </a:xfrm>
          <a:prstGeom prst="rect">
            <a:avLst/>
          </a:prstGeom>
          <a:solidFill>
            <a:srgbClr val="0F2038"/>
          </a:solidFill>
          <a:ln w="15240">
            <a:solidFill>
              <a:srgbClr val="2D6EE8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20040" y="2761488"/>
            <a:ext cx="54864" cy="1554480"/>
          </a:xfrm>
          <a:prstGeom prst="rect">
            <a:avLst/>
          </a:prstGeom>
          <a:solidFill>
            <a:srgbClr val="2D6EE8"/>
          </a:solidFill>
          <a:ln w="12700">
            <a:solidFill>
              <a:srgbClr val="2D6EE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289864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📋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502920" y="3328416"/>
            <a:ext cx="2423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D6EE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4단계 이벤트 관리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02920" y="3657600"/>
            <a:ext cx="2423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0C4D8"/>
                </a:solidFill>
              </a:rPr>
              <a:t>신규→확인됨→처리중→완료 상태 워크플로 및 메모 기능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218688" y="2761488"/>
            <a:ext cx="2697480" cy="1554480"/>
          </a:xfrm>
          <a:prstGeom prst="rect">
            <a:avLst/>
          </a:prstGeom>
          <a:solidFill>
            <a:srgbClr val="0F2038"/>
          </a:solidFill>
          <a:ln w="15240">
            <a:solidFill>
              <a:srgbClr val="A855F7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218688" y="2761488"/>
            <a:ext cx="54864" cy="1554480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355848" y="289864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📄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3401568" y="3328416"/>
            <a:ext cx="2423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A855F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페이지네이션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3401568" y="3657600"/>
            <a:ext cx="2423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0C4D8"/>
                </a:solidFill>
              </a:rPr>
              <a:t>/api/event/paged?page=0&amp;size=20 대용량 이벤트 처리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6117336" y="2761488"/>
            <a:ext cx="2697480" cy="1554480"/>
          </a:xfrm>
          <a:prstGeom prst="rect">
            <a:avLst/>
          </a:prstGeom>
          <a:solidFill>
            <a:srgbClr val="0F2038"/>
          </a:solidFill>
          <a:ln w="15240">
            <a:solidFill>
              <a:srgbClr val="F43F5E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117336" y="2761488"/>
            <a:ext cx="54864" cy="1554480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254496" y="289864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🔐</a:t>
            </a:r>
            <a:endParaRPr lang="en-US" sz="2000" dirty="0"/>
          </a:p>
        </p:txBody>
      </p:sp>
      <p:sp>
        <p:nvSpPr>
          <p:cNvPr id="33" name="Text 31"/>
          <p:cNvSpPr/>
          <p:nvPr/>
        </p:nvSpPr>
        <p:spPr>
          <a:xfrm>
            <a:off x="6300216" y="3328416"/>
            <a:ext cx="2423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43F5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JWT 인증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300216" y="3657600"/>
            <a:ext cx="2423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0C4D8"/>
                </a:solidFill>
              </a:rPr>
              <a:t>고정 시크릿 HMAC-SHA256 / WebSocket 채널 인터셉터 보안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8503920" y="4846320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99AA"/>
                </a:solidFill>
              </a:rPr>
              <a:t>7 / 14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6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2038"/>
          </a:solidFill>
          <a:ln w="12700">
            <a:solidFill>
              <a:srgbClr val="0F203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914400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371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  보안 설계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4114800" cy="3840480"/>
          </a:xfrm>
          <a:prstGeom prst="rect">
            <a:avLst/>
          </a:prstGeom>
          <a:solidFill>
            <a:srgbClr val="0F2038"/>
          </a:solidFill>
          <a:ln w="15240">
            <a:solidFill>
              <a:srgbClr val="F43F5E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005840"/>
            <a:ext cx="4114800" cy="384048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005840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60D1A"/>
                </a:solidFill>
              </a:rPr>
              <a:t>JWT 인증 흐름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11480" y="1508760"/>
            <a:ext cx="384048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B0C4D8"/>
                </a:solidFill>
              </a:rPr>
              <a:t>POST /api/users/login → BCrypt 비밀번호 검증</a:t>
            </a:r>
            <a:endParaRPr lang="en-US" sz="9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B0C4D8"/>
                </a:solidFill>
              </a:rPr>
              <a:t>HMAC-SHA256 고정 시크릿 키 (50-char)</a:t>
            </a:r>
            <a:endParaRPr lang="en-US" sz="9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B0C4D8"/>
                </a:solidFill>
              </a:rPr>
              <a:t>유효기간 24시간 Bearer Token 발급</a:t>
            </a:r>
            <a:endParaRPr lang="en-US" sz="9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B0C4D8"/>
                </a:solidFill>
              </a:rPr>
              <a:t>OncePerRequestFilter로 모든 요청 검증</a:t>
            </a:r>
            <a:endParaRPr lang="en-US" sz="9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B0C4D8"/>
                </a:solidFill>
              </a:rPr>
              <a:t>JwtFilter: 메서드별 PUBLIC_PATHS 정밀 제어</a:t>
            </a:r>
            <a:endParaRPr lang="en-US" sz="9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B0C4D8"/>
                </a:solidFill>
              </a:rPr>
              <a:t>POST /api/event는 AI 서버 전용 공개 경로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663440" y="1005840"/>
            <a:ext cx="4206240" cy="3840480"/>
          </a:xfrm>
          <a:prstGeom prst="rect">
            <a:avLst/>
          </a:prstGeom>
          <a:solidFill>
            <a:srgbClr val="0F2038"/>
          </a:solidFill>
          <a:ln w="15240">
            <a:solidFill>
              <a:srgbClr val="2D6EE8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63440" y="1005840"/>
            <a:ext cx="4206240" cy="384048"/>
          </a:xfrm>
          <a:prstGeom prst="rect">
            <a:avLst/>
          </a:prstGeom>
          <a:solidFill>
            <a:srgbClr val="2D6EE8"/>
          </a:solidFill>
          <a:ln w="12700">
            <a:solidFill>
              <a:srgbClr val="2D6EE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63440" y="1005840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60D1A"/>
                </a:solidFill>
              </a:rPr>
              <a:t>WebSocket 보안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800600" y="1508760"/>
            <a:ext cx="393192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B0C4D8"/>
                </a:solidFill>
              </a:rPr>
              <a:t>STOMP CONNECT 프레임에 Bearer 토큰 첨부</a:t>
            </a:r>
            <a:endParaRPr lang="en-US" sz="9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B0C4D8"/>
                </a:solidFill>
              </a:rPr>
              <a:t>StompChannelInterceptor: 채널 레벨 검증</a:t>
            </a:r>
            <a:endParaRPr lang="en-US" sz="9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B0C4D8"/>
                </a:solidFill>
              </a:rPr>
              <a:t>토큰 없으면 Demo 모드 허용 (폴백)</a:t>
            </a:r>
            <a:endParaRPr lang="en-US" sz="9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B0C4D8"/>
                </a:solidFill>
              </a:rPr>
              <a:t>토큰 있지만 유효하지 않으면 연결 거부</a:t>
            </a:r>
            <a:endParaRPr lang="en-US" sz="9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B0C4D8"/>
                </a:solidFill>
              </a:rPr>
              <a:t>SockJS fallback으로 브라우저 호환성 확보</a:t>
            </a:r>
            <a:endParaRPr lang="en-US" sz="9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B0C4D8"/>
                </a:solidFill>
              </a:rPr>
              <a:t>/topic/events 구독 → 실시간 위반 Push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8503920" y="4846320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99AA"/>
                </a:solidFill>
              </a:rPr>
              <a:t>8 / 14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6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2038"/>
          </a:solidFill>
          <a:ln w="12700">
            <a:solidFill>
              <a:srgbClr val="0F203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914400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371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05  AI 모델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4114800" cy="1463040"/>
          </a:xfrm>
          <a:prstGeom prst="rect">
            <a:avLst/>
          </a:prstGeom>
          <a:solidFill>
            <a:srgbClr val="0F2038"/>
          </a:solidFill>
          <a:ln w="15240">
            <a:solidFill>
              <a:srgbClr val="A855F7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005840"/>
            <a:ext cx="4114800" cy="347472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00584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탐지 클래스 (YOLOv8)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" y="1463040"/>
            <a:ext cx="694944" cy="320040"/>
          </a:xfrm>
          <a:prstGeom prst="rect">
            <a:avLst/>
          </a:prstGeom>
          <a:solidFill>
            <a:srgbClr val="060D1A"/>
          </a:solidFill>
          <a:ln w="10160">
            <a:solidFill>
              <a:srgbClr val="00D4A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1463040"/>
            <a:ext cx="694944" cy="32004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D4AA"/>
                </a:solidFill>
              </a:rPr>
              <a:t>0</a:t>
            </a:r>
            <a:r>
              <a:rPr lang="en-US" sz="700" dirty="0">
                <a:solidFill>
                  <a:srgbClr val="B0C4D8"/>
                </a:solidFill>
              </a:rPr>
              <a:t> HARDHAT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1133856" y="1463040"/>
            <a:ext cx="694944" cy="320040"/>
          </a:xfrm>
          <a:prstGeom prst="rect">
            <a:avLst/>
          </a:prstGeom>
          <a:solidFill>
            <a:srgbClr val="060D1A"/>
          </a:solidFill>
          <a:ln w="10160">
            <a:solidFill>
              <a:srgbClr val="2D6EE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33856" y="1463040"/>
            <a:ext cx="694944" cy="32004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2D6EE8"/>
                </a:solidFill>
              </a:rPr>
              <a:t>1</a:t>
            </a:r>
            <a:r>
              <a:rPr lang="en-US" sz="700" dirty="0">
                <a:solidFill>
                  <a:srgbClr val="B0C4D8"/>
                </a:solidFill>
              </a:rPr>
              <a:t> MASK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1901952" y="1463040"/>
            <a:ext cx="694944" cy="320040"/>
          </a:xfrm>
          <a:prstGeom prst="rect">
            <a:avLst/>
          </a:prstGeom>
          <a:solidFill>
            <a:srgbClr val="060D1A"/>
          </a:solidFill>
          <a:ln w="10160">
            <a:solidFill>
              <a:srgbClr val="F43F5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901952" y="1463040"/>
            <a:ext cx="694944" cy="32004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43F5E"/>
                </a:solidFill>
              </a:rPr>
              <a:t>2</a:t>
            </a:r>
            <a:r>
              <a:rPr lang="en-US" sz="700" dirty="0">
                <a:solidFill>
                  <a:srgbClr val="B0C4D8"/>
                </a:solidFill>
              </a:rPr>
              <a:t> NO-HARDHAT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2670048" y="1463040"/>
            <a:ext cx="694944" cy="320040"/>
          </a:xfrm>
          <a:prstGeom prst="rect">
            <a:avLst/>
          </a:prstGeom>
          <a:solidFill>
            <a:srgbClr val="060D1A"/>
          </a:solidFill>
          <a:ln w="10160">
            <a:solidFill>
              <a:srgbClr val="F59E0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670048" y="1463040"/>
            <a:ext cx="694944" cy="32004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59E0B"/>
                </a:solidFill>
              </a:rPr>
              <a:t>3</a:t>
            </a:r>
            <a:r>
              <a:rPr lang="en-US" sz="700" dirty="0">
                <a:solidFill>
                  <a:srgbClr val="B0C4D8"/>
                </a:solidFill>
              </a:rPr>
              <a:t> NO-MASK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3438144" y="1463040"/>
            <a:ext cx="694944" cy="320040"/>
          </a:xfrm>
          <a:prstGeom prst="rect">
            <a:avLst/>
          </a:prstGeom>
          <a:solidFill>
            <a:srgbClr val="060D1A"/>
          </a:solidFill>
          <a:ln w="10160">
            <a:solidFill>
              <a:srgbClr val="F43F5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438144" y="1463040"/>
            <a:ext cx="694944" cy="32004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43F5E"/>
                </a:solidFill>
              </a:rPr>
              <a:t>4</a:t>
            </a:r>
            <a:r>
              <a:rPr lang="en-US" sz="700" dirty="0">
                <a:solidFill>
                  <a:srgbClr val="B0C4D8"/>
                </a:solidFill>
              </a:rPr>
              <a:t> NO-VEST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365760" y="1874520"/>
            <a:ext cx="694944" cy="320040"/>
          </a:xfrm>
          <a:prstGeom prst="rect">
            <a:avLst/>
          </a:prstGeom>
          <a:solidFill>
            <a:srgbClr val="060D1A"/>
          </a:solidFill>
          <a:ln w="10160">
            <a:solidFill>
              <a:srgbClr val="8899A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1874520"/>
            <a:ext cx="694944" cy="32004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8899AA"/>
                </a:solidFill>
              </a:rPr>
              <a:t>5</a:t>
            </a:r>
            <a:r>
              <a:rPr lang="en-US" sz="700" dirty="0">
                <a:solidFill>
                  <a:srgbClr val="B0C4D8"/>
                </a:solidFill>
              </a:rPr>
              <a:t> PERSON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1133856" y="1874520"/>
            <a:ext cx="694944" cy="320040"/>
          </a:xfrm>
          <a:prstGeom prst="rect">
            <a:avLst/>
          </a:prstGeom>
          <a:solidFill>
            <a:srgbClr val="060D1A"/>
          </a:solidFill>
          <a:ln w="10160">
            <a:solidFill>
              <a:srgbClr val="F59E0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133856" y="1874520"/>
            <a:ext cx="694944" cy="32004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59E0B"/>
                </a:solidFill>
              </a:rPr>
              <a:t>6</a:t>
            </a:r>
            <a:r>
              <a:rPr lang="en-US" sz="700" dirty="0">
                <a:solidFill>
                  <a:srgbClr val="B0C4D8"/>
                </a:solidFill>
              </a:rPr>
              <a:t> SAFETY CONE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1901952" y="1874520"/>
            <a:ext cx="694944" cy="320040"/>
          </a:xfrm>
          <a:prstGeom prst="rect">
            <a:avLst/>
          </a:prstGeom>
          <a:solidFill>
            <a:srgbClr val="060D1A"/>
          </a:solidFill>
          <a:ln w="10160">
            <a:solidFill>
              <a:srgbClr val="00D4A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901952" y="1874520"/>
            <a:ext cx="694944" cy="32004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D4AA"/>
                </a:solidFill>
              </a:rPr>
              <a:t>7</a:t>
            </a:r>
            <a:r>
              <a:rPr lang="en-US" sz="700" dirty="0">
                <a:solidFill>
                  <a:srgbClr val="B0C4D8"/>
                </a:solidFill>
              </a:rPr>
              <a:t> SAFETY VEST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2670048" y="1874520"/>
            <a:ext cx="694944" cy="320040"/>
          </a:xfrm>
          <a:prstGeom prst="rect">
            <a:avLst/>
          </a:prstGeom>
          <a:solidFill>
            <a:srgbClr val="060D1A"/>
          </a:solidFill>
          <a:ln w="10160">
            <a:solidFill>
              <a:srgbClr val="2D6EE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670048" y="1874520"/>
            <a:ext cx="694944" cy="32004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2D6EE8"/>
                </a:solidFill>
              </a:rPr>
              <a:t>8</a:t>
            </a:r>
            <a:r>
              <a:rPr lang="en-US" sz="700" dirty="0">
                <a:solidFill>
                  <a:srgbClr val="B0C4D8"/>
                </a:solidFill>
              </a:rPr>
              <a:t> MACHINERY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3438144" y="1874520"/>
            <a:ext cx="694944" cy="320040"/>
          </a:xfrm>
          <a:prstGeom prst="rect">
            <a:avLst/>
          </a:prstGeom>
          <a:solidFill>
            <a:srgbClr val="060D1A"/>
          </a:solidFill>
          <a:ln w="10160">
            <a:solidFill>
              <a:srgbClr val="A855F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438144" y="1874520"/>
            <a:ext cx="694944" cy="32004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A855F7"/>
                </a:solidFill>
              </a:rPr>
              <a:t>9</a:t>
            </a:r>
            <a:r>
              <a:rPr lang="en-US" sz="700" dirty="0">
                <a:solidFill>
                  <a:srgbClr val="B0C4D8"/>
                </a:solidFill>
              </a:rPr>
              <a:t> VEHICLE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4663440" y="1005840"/>
            <a:ext cx="4206240" cy="1463040"/>
          </a:xfrm>
          <a:prstGeom prst="rect">
            <a:avLst/>
          </a:prstGeom>
          <a:solidFill>
            <a:srgbClr val="0F2038"/>
          </a:solidFill>
          <a:ln w="15240">
            <a:solidFill>
              <a:srgbClr val="2D6EE8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663440" y="1005840"/>
            <a:ext cx="4206240" cy="347472"/>
          </a:xfrm>
          <a:prstGeom prst="rect">
            <a:avLst/>
          </a:prstGeom>
          <a:solidFill>
            <a:srgbClr val="2D6EE8"/>
          </a:solidFill>
          <a:ln w="12700">
            <a:solidFill>
              <a:srgbClr val="2D6EE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663440" y="1005840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FastAPI 탐지 파이프라인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754880" y="1444752"/>
            <a:ext cx="3931920" cy="164592"/>
          </a:xfrm>
          <a:prstGeom prst="rect">
            <a:avLst/>
          </a:prstGeom>
          <a:solidFill>
            <a:srgbClr val="060D1A"/>
          </a:solidFill>
          <a:ln w="6350">
            <a:solidFill>
              <a:srgbClr val="2D6EE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54880" y="1444752"/>
            <a:ext cx="3931920" cy="16459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B0C4D8"/>
                </a:solidFill>
              </a:rPr>
              <a:t>1. VideoCapture(cctv_url)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4754880" y="1627632"/>
            <a:ext cx="3931920" cy="164592"/>
          </a:xfrm>
          <a:prstGeom prst="rect">
            <a:avLst/>
          </a:prstGeom>
          <a:solidFill>
            <a:srgbClr val="122644"/>
          </a:solidFill>
          <a:ln w="6350">
            <a:solidFill>
              <a:srgbClr val="2D6EE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754880" y="1627632"/>
            <a:ext cx="3931920" cy="16459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B0C4D8"/>
                </a:solidFill>
              </a:rPr>
              <a:t>2. YOLOv8 추론 → ByteTrack 추적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4754880" y="1810512"/>
            <a:ext cx="3931920" cy="164592"/>
          </a:xfrm>
          <a:prstGeom prst="rect">
            <a:avLst/>
          </a:prstGeom>
          <a:solidFill>
            <a:srgbClr val="060D1A"/>
          </a:solidFill>
          <a:ln w="6350">
            <a:solidFill>
              <a:srgbClr val="2D6EE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754880" y="1810512"/>
            <a:ext cx="3931920" cy="16459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B0C4D8"/>
                </a:solidFill>
              </a:rPr>
              <a:t>3. NO-* 클래스 위반 감지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4754880" y="1993392"/>
            <a:ext cx="3931920" cy="164592"/>
          </a:xfrm>
          <a:prstGeom prst="rect">
            <a:avLst/>
          </a:prstGeom>
          <a:solidFill>
            <a:srgbClr val="122644"/>
          </a:solidFill>
          <a:ln w="6350">
            <a:solidFill>
              <a:srgbClr val="2D6EE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54880" y="1993392"/>
            <a:ext cx="3931920" cy="16459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B0C4D8"/>
                </a:solidFill>
              </a:rPr>
              <a:t>4. OpenCV JPEG 캡처 → base64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4754880" y="2176272"/>
            <a:ext cx="3931920" cy="164592"/>
          </a:xfrm>
          <a:prstGeom prst="rect">
            <a:avLst/>
          </a:prstGeom>
          <a:solidFill>
            <a:srgbClr val="060D1A"/>
          </a:solidFill>
          <a:ln w="6350">
            <a:solidFill>
              <a:srgbClr val="2D6EE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754880" y="2176272"/>
            <a:ext cx="3931920" cy="16459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B0C4D8"/>
                </a:solidFill>
              </a:rPr>
              <a:t>5. POST /api/event (Spring Boot)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274320" y="2587752"/>
            <a:ext cx="8595360" cy="2286000"/>
          </a:xfrm>
          <a:prstGeom prst="rect">
            <a:avLst/>
          </a:prstGeom>
          <a:solidFill>
            <a:srgbClr val="0F2038"/>
          </a:solidFill>
          <a:ln w="15240">
            <a:solidFill>
              <a:srgbClr val="F59E0B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274320" y="2606040"/>
            <a:ext cx="8595360" cy="34747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74320" y="2606040"/>
            <a:ext cx="8595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60D1A"/>
                </a:solidFill>
              </a:rPr>
              <a:t>ByteTrack 쿨다운 최적화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457200" y="3090672"/>
            <a:ext cx="2422916" cy="685800"/>
          </a:xfrm>
          <a:prstGeom prst="rect">
            <a:avLst/>
          </a:prstGeom>
          <a:solidFill>
            <a:srgbClr val="060D1A"/>
          </a:solidFill>
          <a:ln w="7620">
            <a:solidFill>
              <a:srgbClr val="F59E0B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48640" y="3136392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59E0B"/>
                </a:solidFill>
              </a:rPr>
              <a:t>track_id 기반 중복 방지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548640" y="3392424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B0C4D8"/>
                </a:solidFill>
              </a:rPr>
              <a:t>동일 객체 연속 위반 30초 쿨다운 (EVENT_COOLDOWN_SECONDS = 30)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3200278" y="3095709"/>
            <a:ext cx="2697480" cy="685800"/>
          </a:xfrm>
          <a:prstGeom prst="rect">
            <a:avLst/>
          </a:prstGeom>
          <a:solidFill>
            <a:srgbClr val="060D1A"/>
          </a:solidFill>
          <a:ln w="7620">
            <a:solidFill>
              <a:srgbClr val="F59E0B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291718" y="3141429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59E0B"/>
                </a:solidFill>
              </a:rPr>
              <a:t>confidence 필터링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3291718" y="3397461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B0C4D8"/>
                </a:solidFill>
              </a:rPr>
              <a:t>신뢰도 임계값 이상만 이벤트 생성 → DB 과부하 방지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6217920" y="3099816"/>
            <a:ext cx="2514600" cy="685800"/>
          </a:xfrm>
          <a:prstGeom prst="rect">
            <a:avLst/>
          </a:prstGeom>
          <a:solidFill>
            <a:srgbClr val="060D1A"/>
          </a:solidFill>
          <a:ln w="7620">
            <a:solidFill>
              <a:srgbClr val="F59E0B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309360" y="3136392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59E0B"/>
                </a:solidFill>
              </a:rPr>
              <a:t>bbox_json 저장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6309360" y="3392424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B0C4D8"/>
                </a:solidFill>
              </a:rPr>
              <a:t>위반 좌표 정보 JSON 저장 → 추후 분석 활용 가능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8503920" y="4846320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99AA"/>
                </a:solidFill>
              </a:rPr>
              <a:t>9 / 14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6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2038"/>
          </a:solidFill>
          <a:ln w="12700">
            <a:solidFill>
              <a:srgbClr val="0F203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914400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371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06  처리 흐름 (End-to-End)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17220" y="1371600"/>
            <a:ext cx="1051560" cy="1371600"/>
          </a:xfrm>
          <a:prstGeom prst="rect">
            <a:avLst/>
          </a:prstGeom>
          <a:solidFill>
            <a:srgbClr val="0F2038"/>
          </a:solidFill>
          <a:ln w="19050">
            <a:solidFill>
              <a:srgbClr val="A855F7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17220" y="1371600"/>
            <a:ext cx="1051560" cy="347472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17220" y="1371600"/>
            <a:ext cx="1051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60D1A"/>
                </a:solidFill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2940" y="1783080"/>
            <a:ext cx="960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CCTV 촬영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62940" y="2286000"/>
            <a:ext cx="960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8899AA"/>
                </a:solidFill>
              </a:rPr>
              <a:t>영상 스트림 캡처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1687068" y="1828800"/>
            <a:ext cx="5486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59E0B"/>
                </a:solidFill>
              </a:rPr>
              <a:t>→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1760220" y="1371600"/>
            <a:ext cx="1051560" cy="1371600"/>
          </a:xfrm>
          <a:prstGeom prst="rect">
            <a:avLst/>
          </a:prstGeom>
          <a:solidFill>
            <a:srgbClr val="0F2038"/>
          </a:solidFill>
          <a:ln w="19050">
            <a:solidFill>
              <a:srgbClr val="2D6EE8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1760220" y="1371600"/>
            <a:ext cx="1051560" cy="347472"/>
          </a:xfrm>
          <a:prstGeom prst="rect">
            <a:avLst/>
          </a:prstGeom>
          <a:solidFill>
            <a:srgbClr val="2D6EE8"/>
          </a:solidFill>
          <a:ln w="12700">
            <a:solidFill>
              <a:srgbClr val="2D6EE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760220" y="1371600"/>
            <a:ext cx="1051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60D1A"/>
                </a:solidFill>
              </a:rPr>
              <a:t>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805940" y="1783080"/>
            <a:ext cx="960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YOLOv8 탐지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805940" y="2286000"/>
            <a:ext cx="960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8899AA"/>
                </a:solidFill>
              </a:rPr>
              <a:t>PPE 미착용 감지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2830068" y="1828800"/>
            <a:ext cx="5486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59E0B"/>
                </a:solidFill>
              </a:rPr>
              <a:t>→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903220" y="1371600"/>
            <a:ext cx="1051560" cy="1371600"/>
          </a:xfrm>
          <a:prstGeom prst="rect">
            <a:avLst/>
          </a:prstGeom>
          <a:solidFill>
            <a:srgbClr val="0F2038"/>
          </a:solidFill>
          <a:ln w="19050">
            <a:solidFill>
              <a:srgbClr val="00D4AA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903220" y="1371600"/>
            <a:ext cx="1051560" cy="347472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903220" y="1371600"/>
            <a:ext cx="1051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60D1A"/>
                </a:solidFill>
              </a:rPr>
              <a:t>3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2948940" y="1783080"/>
            <a:ext cx="960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이벤트 전송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2948940" y="2286000"/>
            <a:ext cx="960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8899AA"/>
                </a:solidFill>
              </a:rPr>
              <a:t>POST /api/event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3973068" y="1828800"/>
            <a:ext cx="5486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59E0B"/>
                </a:solidFill>
              </a:rPr>
              <a:t>→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046220" y="1371600"/>
            <a:ext cx="1051560" cy="1371600"/>
          </a:xfrm>
          <a:prstGeom prst="rect">
            <a:avLst/>
          </a:prstGeom>
          <a:solidFill>
            <a:srgbClr val="0F2038"/>
          </a:solidFill>
          <a:ln w="19050">
            <a:solidFill>
              <a:srgbClr val="F59E0B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046220" y="1371600"/>
            <a:ext cx="1051560" cy="34747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046220" y="1371600"/>
            <a:ext cx="1051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60D1A"/>
                </a:solidFill>
              </a:rPr>
              <a:t>4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4091940" y="1783080"/>
            <a:ext cx="960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DB 저장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091940" y="2286000"/>
            <a:ext cx="960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8899AA"/>
                </a:solidFill>
              </a:rPr>
              <a:t>cctv_event 테이블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5116068" y="1828800"/>
            <a:ext cx="5486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59E0B"/>
                </a:solidFill>
              </a:rPr>
              <a:t>→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5189220" y="1371600"/>
            <a:ext cx="1051560" cy="1371600"/>
          </a:xfrm>
          <a:prstGeom prst="rect">
            <a:avLst/>
          </a:prstGeom>
          <a:solidFill>
            <a:srgbClr val="0F2038"/>
          </a:solidFill>
          <a:ln w="19050">
            <a:solidFill>
              <a:srgbClr val="F43F5E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5189220" y="1371600"/>
            <a:ext cx="1051560" cy="347472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189220" y="1371600"/>
            <a:ext cx="1051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60D1A"/>
                </a:solidFill>
              </a:rPr>
              <a:t>5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5234940" y="1783080"/>
            <a:ext cx="960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WS Broadcast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234940" y="2286000"/>
            <a:ext cx="960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8899AA"/>
                </a:solidFill>
              </a:rPr>
              <a:t>/topic/events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6259068" y="1828800"/>
            <a:ext cx="5486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59E0B"/>
                </a:solidFill>
              </a:rPr>
              <a:t>→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6332220" y="1371600"/>
            <a:ext cx="1051560" cy="1371600"/>
          </a:xfrm>
          <a:prstGeom prst="rect">
            <a:avLst/>
          </a:prstGeom>
          <a:solidFill>
            <a:srgbClr val="0F2038"/>
          </a:solidFill>
          <a:ln w="19050">
            <a:solidFill>
              <a:srgbClr val="00D4AA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6332220" y="1371600"/>
            <a:ext cx="1051560" cy="347472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332220" y="1371600"/>
            <a:ext cx="1051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60D1A"/>
                </a:solidFill>
              </a:rPr>
              <a:t>6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6377940" y="1783080"/>
            <a:ext cx="960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대시보드 표시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6377940" y="2286000"/>
            <a:ext cx="960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8899AA"/>
                </a:solidFill>
              </a:rPr>
              <a:t>알림 + 이미지</a:t>
            </a:r>
            <a:endParaRPr lang="en-US" sz="750" dirty="0"/>
          </a:p>
        </p:txBody>
      </p:sp>
      <p:sp>
        <p:nvSpPr>
          <p:cNvPr id="40" name="Text 38"/>
          <p:cNvSpPr/>
          <p:nvPr/>
        </p:nvSpPr>
        <p:spPr>
          <a:xfrm>
            <a:off x="7402068" y="1828800"/>
            <a:ext cx="5486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59E0B"/>
                </a:solidFill>
              </a:rPr>
              <a:t>→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7475220" y="1371600"/>
            <a:ext cx="1051560" cy="1371600"/>
          </a:xfrm>
          <a:prstGeom prst="rect">
            <a:avLst/>
          </a:prstGeom>
          <a:solidFill>
            <a:srgbClr val="0F2038"/>
          </a:solidFill>
          <a:ln w="19050">
            <a:solidFill>
              <a:srgbClr val="2D6EE8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7475220" y="1371600"/>
            <a:ext cx="1051560" cy="347472"/>
          </a:xfrm>
          <a:prstGeom prst="rect">
            <a:avLst/>
          </a:prstGeom>
          <a:solidFill>
            <a:srgbClr val="2D6EE8"/>
          </a:solidFill>
          <a:ln w="12700">
            <a:solidFill>
              <a:srgbClr val="2D6EE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475220" y="1371600"/>
            <a:ext cx="1051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60D1A"/>
                </a:solidFill>
              </a:rPr>
              <a:t>7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7520940" y="1783080"/>
            <a:ext cx="960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관리자 처리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7520940" y="2286000"/>
            <a:ext cx="960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8899AA"/>
                </a:solidFill>
              </a:rPr>
              <a:t>상태 업데이트</a:t>
            </a:r>
            <a:endParaRPr lang="en-US" sz="750" dirty="0"/>
          </a:p>
        </p:txBody>
      </p:sp>
      <p:sp>
        <p:nvSpPr>
          <p:cNvPr id="46" name="Shape 44"/>
          <p:cNvSpPr/>
          <p:nvPr/>
        </p:nvSpPr>
        <p:spPr>
          <a:xfrm>
            <a:off x="274320" y="3063240"/>
            <a:ext cx="8595360" cy="1783080"/>
          </a:xfrm>
          <a:prstGeom prst="rect">
            <a:avLst/>
          </a:prstGeom>
          <a:solidFill>
            <a:srgbClr val="0F2038"/>
          </a:solidFill>
          <a:ln w="12700">
            <a:solidFill>
              <a:srgbClr val="2D6EE8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274320" y="3063240"/>
            <a:ext cx="8595360" cy="347472"/>
          </a:xfrm>
          <a:prstGeom prst="rect">
            <a:avLst/>
          </a:prstGeom>
          <a:solidFill>
            <a:srgbClr val="2D6EE8"/>
          </a:solidFill>
          <a:ln w="12700">
            <a:solidFill>
              <a:srgbClr val="2D6EE8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274320" y="3063240"/>
            <a:ext cx="8595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이벤트 상태 처리 워크플로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640080" y="3547872"/>
            <a:ext cx="1828800" cy="1005840"/>
          </a:xfrm>
          <a:prstGeom prst="rect">
            <a:avLst/>
          </a:prstGeom>
          <a:solidFill>
            <a:srgbClr val="060D1A"/>
          </a:solidFill>
          <a:ln w="15240">
            <a:solidFill>
              <a:srgbClr val="F43F5E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40080" y="3639312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43F5E"/>
                </a:solidFill>
              </a:rPr>
              <a:t>🆕 신규</a:t>
            </a:r>
            <a:endParaRPr lang="en-US" sz="1300" dirty="0"/>
          </a:p>
        </p:txBody>
      </p:sp>
      <p:sp>
        <p:nvSpPr>
          <p:cNvPr id="51" name="Text 49"/>
          <p:cNvSpPr/>
          <p:nvPr/>
        </p:nvSpPr>
        <p:spPr>
          <a:xfrm>
            <a:off x="640080" y="4096512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8899AA"/>
                </a:solidFill>
              </a:rPr>
              <a:t>status: "new"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2468880" y="3822192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59E0B"/>
                </a:solidFill>
              </a:rPr>
              <a:t>→</a:t>
            </a:r>
            <a:endParaRPr lang="en-US" sz="1400" dirty="0"/>
          </a:p>
        </p:txBody>
      </p:sp>
      <p:sp>
        <p:nvSpPr>
          <p:cNvPr id="53" name="Shape 51"/>
          <p:cNvSpPr/>
          <p:nvPr/>
        </p:nvSpPr>
        <p:spPr>
          <a:xfrm>
            <a:off x="2743200" y="3547872"/>
            <a:ext cx="1828800" cy="1005840"/>
          </a:xfrm>
          <a:prstGeom prst="rect">
            <a:avLst/>
          </a:prstGeom>
          <a:solidFill>
            <a:srgbClr val="060D1A"/>
          </a:solidFill>
          <a:ln w="15240">
            <a:solidFill>
              <a:srgbClr val="F59E0B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2743200" y="3639312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59E0B"/>
                </a:solidFill>
              </a:rPr>
              <a:t>👁 확인됨</a:t>
            </a:r>
            <a:endParaRPr lang="en-US" sz="1300" dirty="0"/>
          </a:p>
        </p:txBody>
      </p:sp>
      <p:sp>
        <p:nvSpPr>
          <p:cNvPr id="55" name="Text 53"/>
          <p:cNvSpPr/>
          <p:nvPr/>
        </p:nvSpPr>
        <p:spPr>
          <a:xfrm>
            <a:off x="2743200" y="4096512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8899AA"/>
                </a:solidFill>
              </a:rPr>
              <a:t>status: "acked"</a:t>
            </a:r>
            <a:endParaRPr lang="en-US" sz="800" dirty="0"/>
          </a:p>
        </p:txBody>
      </p:sp>
      <p:sp>
        <p:nvSpPr>
          <p:cNvPr id="56" name="Text 54"/>
          <p:cNvSpPr/>
          <p:nvPr/>
        </p:nvSpPr>
        <p:spPr>
          <a:xfrm>
            <a:off x="4572000" y="3822192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59E0B"/>
                </a:solidFill>
              </a:rPr>
              <a:t>→</a:t>
            </a:r>
            <a:endParaRPr lang="en-US" sz="1400" dirty="0"/>
          </a:p>
        </p:txBody>
      </p:sp>
      <p:sp>
        <p:nvSpPr>
          <p:cNvPr id="57" name="Shape 55"/>
          <p:cNvSpPr/>
          <p:nvPr/>
        </p:nvSpPr>
        <p:spPr>
          <a:xfrm>
            <a:off x="4846320" y="3547872"/>
            <a:ext cx="1828800" cy="1005840"/>
          </a:xfrm>
          <a:prstGeom prst="rect">
            <a:avLst/>
          </a:prstGeom>
          <a:solidFill>
            <a:srgbClr val="060D1A"/>
          </a:solidFill>
          <a:ln w="15240">
            <a:solidFill>
              <a:srgbClr val="2D6EE8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4846320" y="3639312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D6EE8"/>
                </a:solidFill>
              </a:rPr>
              <a:t>⚙ 처리중</a:t>
            </a:r>
            <a:endParaRPr lang="en-US" sz="1300" dirty="0"/>
          </a:p>
        </p:txBody>
      </p:sp>
      <p:sp>
        <p:nvSpPr>
          <p:cNvPr id="59" name="Text 57"/>
          <p:cNvSpPr/>
          <p:nvPr/>
        </p:nvSpPr>
        <p:spPr>
          <a:xfrm>
            <a:off x="4846320" y="4096512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8899AA"/>
                </a:solidFill>
              </a:rPr>
              <a:t>status: "in_progress"</a:t>
            </a:r>
            <a:endParaRPr lang="en-US" sz="800" dirty="0"/>
          </a:p>
        </p:txBody>
      </p:sp>
      <p:sp>
        <p:nvSpPr>
          <p:cNvPr id="60" name="Text 58"/>
          <p:cNvSpPr/>
          <p:nvPr/>
        </p:nvSpPr>
        <p:spPr>
          <a:xfrm>
            <a:off x="6675120" y="3822192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59E0B"/>
                </a:solidFill>
              </a:rPr>
              <a:t>→</a:t>
            </a:r>
            <a:endParaRPr lang="en-US" sz="1400" dirty="0"/>
          </a:p>
        </p:txBody>
      </p:sp>
      <p:sp>
        <p:nvSpPr>
          <p:cNvPr id="61" name="Shape 59"/>
          <p:cNvSpPr/>
          <p:nvPr/>
        </p:nvSpPr>
        <p:spPr>
          <a:xfrm>
            <a:off x="6949440" y="3547872"/>
            <a:ext cx="1828800" cy="1005840"/>
          </a:xfrm>
          <a:prstGeom prst="rect">
            <a:avLst/>
          </a:prstGeom>
          <a:solidFill>
            <a:srgbClr val="060D1A"/>
          </a:solidFill>
          <a:ln w="15240">
            <a:solidFill>
              <a:srgbClr val="00D4AA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6949440" y="3639312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D4AA"/>
                </a:solidFill>
              </a:rPr>
              <a:t>✅ 완료</a:t>
            </a:r>
            <a:endParaRPr lang="en-US" sz="1300" dirty="0"/>
          </a:p>
        </p:txBody>
      </p:sp>
      <p:sp>
        <p:nvSpPr>
          <p:cNvPr id="63" name="Text 61"/>
          <p:cNvSpPr/>
          <p:nvPr/>
        </p:nvSpPr>
        <p:spPr>
          <a:xfrm>
            <a:off x="6949440" y="4096512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8899AA"/>
                </a:solidFill>
              </a:rPr>
              <a:t>status: "resolved"</a:t>
            </a:r>
            <a:endParaRPr lang="en-US" sz="800" dirty="0"/>
          </a:p>
        </p:txBody>
      </p:sp>
      <p:sp>
        <p:nvSpPr>
          <p:cNvPr id="64" name="Text 62"/>
          <p:cNvSpPr/>
          <p:nvPr/>
        </p:nvSpPr>
        <p:spPr>
          <a:xfrm>
            <a:off x="8503920" y="4846320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99AA"/>
                </a:solidFill>
              </a:rPr>
              <a:t>10 / 14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6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2038"/>
          </a:solidFill>
          <a:ln w="12700">
            <a:solidFill>
              <a:srgbClr val="0F203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9144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371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07  DB 스키마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74320" y="960120"/>
            <a:ext cx="3931920" cy="3840480"/>
          </a:xfrm>
          <a:prstGeom prst="rect">
            <a:avLst/>
          </a:prstGeom>
          <a:solidFill>
            <a:srgbClr val="0F2038"/>
          </a:solidFill>
          <a:ln w="19050">
            <a:solidFill>
              <a:srgbClr val="F59E0B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960120"/>
            <a:ext cx="3931920" cy="38404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960120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60D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safety_managers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0040" y="1463040"/>
            <a:ext cx="3840480" cy="347472"/>
          </a:xfrm>
          <a:prstGeom prst="rect">
            <a:avLst/>
          </a:prstGeom>
          <a:solidFill>
            <a:srgbClr val="060D1A"/>
          </a:solidFill>
          <a:ln w="3810">
            <a:solidFill>
              <a:srgbClr val="1A305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0040" y="1463040"/>
            <a:ext cx="182880" cy="34747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1499616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manager_id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1965960" y="1499616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855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063240" y="1499616"/>
            <a:ext cx="1051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899AA"/>
                </a:solidFill>
              </a:rPr>
              <a:t>PK AUTO_INCREMENT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320040" y="1856232"/>
            <a:ext cx="3840480" cy="347472"/>
          </a:xfrm>
          <a:prstGeom prst="rect">
            <a:avLst/>
          </a:prstGeom>
          <a:solidFill>
            <a:srgbClr val="122644"/>
          </a:solidFill>
          <a:ln w="3810">
            <a:solidFill>
              <a:srgbClr val="1A305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189280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1965960" y="189280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855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VARCHAR(50)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3063240" y="1892808"/>
            <a:ext cx="1051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899AA"/>
                </a:solidFill>
              </a:rPr>
              <a:t>이름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320040" y="2249424"/>
            <a:ext cx="3840480" cy="347472"/>
          </a:xfrm>
          <a:prstGeom prst="rect">
            <a:avLst/>
          </a:prstGeom>
          <a:solidFill>
            <a:srgbClr val="060D1A"/>
          </a:solidFill>
          <a:ln w="3810">
            <a:solidFill>
              <a:srgbClr val="1A305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22860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login_id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1965960" y="22860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855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VARCHAR(50)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3063240" y="2286000"/>
            <a:ext cx="1051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899AA"/>
                </a:solidFill>
              </a:rPr>
              <a:t>로그인 ID UNIQUE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320040" y="2642616"/>
            <a:ext cx="3840480" cy="347472"/>
          </a:xfrm>
          <a:prstGeom prst="rect">
            <a:avLst/>
          </a:prstGeom>
          <a:solidFill>
            <a:srgbClr val="122644"/>
          </a:solidFill>
          <a:ln w="3810">
            <a:solidFill>
              <a:srgbClr val="1A305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" y="2679192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password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1965960" y="2679192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855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VARCHAR(255)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3063240" y="2679192"/>
            <a:ext cx="1051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899AA"/>
                </a:solidFill>
              </a:rPr>
              <a:t>BCrypt 해시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320040" y="3035808"/>
            <a:ext cx="3840480" cy="347472"/>
          </a:xfrm>
          <a:prstGeom prst="rect">
            <a:avLst/>
          </a:prstGeom>
          <a:solidFill>
            <a:srgbClr val="060D1A"/>
          </a:solidFill>
          <a:ln w="3810">
            <a:solidFill>
              <a:srgbClr val="1A305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48640" y="3072384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phone_num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1965960" y="3072384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855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VARCHAR(20)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3063240" y="3072384"/>
            <a:ext cx="1051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899AA"/>
                </a:solidFill>
              </a:rPr>
              <a:t>연락처</a:t>
            </a:r>
            <a:endParaRPr lang="en-US" sz="750" dirty="0"/>
          </a:p>
        </p:txBody>
      </p:sp>
      <p:sp>
        <p:nvSpPr>
          <p:cNvPr id="29" name="Shape 27"/>
          <p:cNvSpPr/>
          <p:nvPr/>
        </p:nvSpPr>
        <p:spPr>
          <a:xfrm>
            <a:off x="320040" y="3429000"/>
            <a:ext cx="3840480" cy="347472"/>
          </a:xfrm>
          <a:prstGeom prst="rect">
            <a:avLst/>
          </a:prstGeom>
          <a:solidFill>
            <a:srgbClr val="122644"/>
          </a:solidFill>
          <a:ln w="3810">
            <a:solidFill>
              <a:srgbClr val="1A305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48640" y="3465576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role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1965960" y="3465576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855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VARCHAR(20)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3063240" y="3465576"/>
            <a:ext cx="1051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899AA"/>
                </a:solidFill>
              </a:rPr>
              <a:t>ADMIN / USER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320040" y="3822192"/>
            <a:ext cx="3840480" cy="347472"/>
          </a:xfrm>
          <a:prstGeom prst="rect">
            <a:avLst/>
          </a:prstGeom>
          <a:solidFill>
            <a:srgbClr val="060D1A"/>
          </a:solidFill>
          <a:ln w="3810">
            <a:solidFill>
              <a:srgbClr val="1A305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48640" y="385876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created_at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1965960" y="385876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855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DATETIME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3063240" y="3858768"/>
            <a:ext cx="1051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899AA"/>
                </a:solidFill>
              </a:rPr>
              <a:t>생성일시</a:t>
            </a:r>
            <a:endParaRPr lang="en-US" sz="750" dirty="0"/>
          </a:p>
        </p:txBody>
      </p:sp>
      <p:sp>
        <p:nvSpPr>
          <p:cNvPr id="37" name="Shape 35"/>
          <p:cNvSpPr/>
          <p:nvPr/>
        </p:nvSpPr>
        <p:spPr>
          <a:xfrm>
            <a:off x="320040" y="4215384"/>
            <a:ext cx="3840480" cy="347472"/>
          </a:xfrm>
          <a:prstGeom prst="rect">
            <a:avLst/>
          </a:prstGeom>
          <a:solidFill>
            <a:srgbClr val="122644"/>
          </a:solidFill>
          <a:ln w="3810">
            <a:solidFill>
              <a:srgbClr val="1A305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48640" y="42519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updated_at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1965960" y="425196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855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DATETIME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3063240" y="4251960"/>
            <a:ext cx="1051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899AA"/>
                </a:solidFill>
              </a:rPr>
              <a:t>수정일시</a:t>
            </a:r>
            <a:endParaRPr lang="en-US" sz="750" dirty="0"/>
          </a:p>
        </p:txBody>
      </p:sp>
      <p:sp>
        <p:nvSpPr>
          <p:cNvPr id="41" name="Shape 39"/>
          <p:cNvSpPr/>
          <p:nvPr/>
        </p:nvSpPr>
        <p:spPr>
          <a:xfrm>
            <a:off x="4663440" y="960120"/>
            <a:ext cx="4206240" cy="3840480"/>
          </a:xfrm>
          <a:prstGeom prst="rect">
            <a:avLst/>
          </a:prstGeom>
          <a:solidFill>
            <a:srgbClr val="0F2038"/>
          </a:solidFill>
          <a:ln w="19050">
            <a:solidFill>
              <a:srgbClr val="00D4AA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4663440" y="960120"/>
            <a:ext cx="4206240" cy="384048"/>
          </a:xfrm>
          <a:prstGeom prst="rect">
            <a:avLst/>
          </a:prstGeom>
          <a:solidFill>
            <a:srgbClr val="00B894"/>
          </a:solidFill>
          <a:ln w="12700">
            <a:solidFill>
              <a:srgbClr val="00B894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663440" y="960120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60D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cctv_event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4709160" y="1463040"/>
            <a:ext cx="4114800" cy="329184"/>
          </a:xfrm>
          <a:prstGeom prst="rect">
            <a:avLst/>
          </a:prstGeom>
          <a:solidFill>
            <a:srgbClr val="060D1A"/>
          </a:solidFill>
          <a:ln w="3810">
            <a:solidFill>
              <a:srgbClr val="1A3050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4709160" y="1463040"/>
            <a:ext cx="182880" cy="329184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937760" y="1490472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event_id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6355080" y="1490472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A855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endParaRPr lang="en-US" sz="750" dirty="0"/>
          </a:p>
        </p:txBody>
      </p:sp>
      <p:sp>
        <p:nvSpPr>
          <p:cNvPr id="48" name="Text 46"/>
          <p:cNvSpPr/>
          <p:nvPr/>
        </p:nvSpPr>
        <p:spPr>
          <a:xfrm>
            <a:off x="7589520" y="1490472"/>
            <a:ext cx="1143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8899AA"/>
                </a:solidFill>
              </a:rPr>
              <a:t>PK AUTO_INCREMENT</a:t>
            </a:r>
            <a:endParaRPr lang="en-US" sz="700" dirty="0"/>
          </a:p>
        </p:txBody>
      </p:sp>
      <p:sp>
        <p:nvSpPr>
          <p:cNvPr id="49" name="Shape 47"/>
          <p:cNvSpPr/>
          <p:nvPr/>
        </p:nvSpPr>
        <p:spPr>
          <a:xfrm>
            <a:off x="4709160" y="1837944"/>
            <a:ext cx="4114800" cy="329184"/>
          </a:xfrm>
          <a:prstGeom prst="rect">
            <a:avLst/>
          </a:prstGeom>
          <a:solidFill>
            <a:srgbClr val="122644"/>
          </a:solidFill>
          <a:ln w="3810">
            <a:solidFill>
              <a:srgbClr val="1A305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937760" y="1865376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B0C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cctv_no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6355080" y="1865376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A855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VARCHAR(20)</a:t>
            </a:r>
            <a:endParaRPr lang="en-US" sz="750" dirty="0"/>
          </a:p>
        </p:txBody>
      </p:sp>
      <p:sp>
        <p:nvSpPr>
          <p:cNvPr id="52" name="Text 50"/>
          <p:cNvSpPr/>
          <p:nvPr/>
        </p:nvSpPr>
        <p:spPr>
          <a:xfrm>
            <a:off x="7589520" y="1865376"/>
            <a:ext cx="1143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8899AA"/>
                </a:solidFill>
              </a:rPr>
              <a:t>CCTV 식별번호</a:t>
            </a:r>
            <a:endParaRPr lang="en-US" sz="700" dirty="0"/>
          </a:p>
        </p:txBody>
      </p:sp>
      <p:sp>
        <p:nvSpPr>
          <p:cNvPr id="53" name="Shape 51"/>
          <p:cNvSpPr/>
          <p:nvPr/>
        </p:nvSpPr>
        <p:spPr>
          <a:xfrm>
            <a:off x="4709160" y="2212848"/>
            <a:ext cx="4114800" cy="329184"/>
          </a:xfrm>
          <a:prstGeom prst="rect">
            <a:avLst/>
          </a:prstGeom>
          <a:solidFill>
            <a:srgbClr val="060D1A"/>
          </a:solidFill>
          <a:ln w="3810">
            <a:solidFill>
              <a:srgbClr val="1A305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937760" y="22402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B0C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detected_code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6355080" y="224028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A855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endParaRPr lang="en-US" sz="750" dirty="0"/>
          </a:p>
        </p:txBody>
      </p:sp>
      <p:sp>
        <p:nvSpPr>
          <p:cNvPr id="56" name="Text 54"/>
          <p:cNvSpPr/>
          <p:nvPr/>
        </p:nvSpPr>
        <p:spPr>
          <a:xfrm>
            <a:off x="7589520" y="2240280"/>
            <a:ext cx="1143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8899AA"/>
                </a:solidFill>
              </a:rPr>
              <a:t>탐지 클래스 코드</a:t>
            </a:r>
            <a:endParaRPr lang="en-US" sz="700" dirty="0"/>
          </a:p>
        </p:txBody>
      </p:sp>
      <p:sp>
        <p:nvSpPr>
          <p:cNvPr id="57" name="Shape 55"/>
          <p:cNvSpPr/>
          <p:nvPr/>
        </p:nvSpPr>
        <p:spPr>
          <a:xfrm>
            <a:off x="4709160" y="2587752"/>
            <a:ext cx="4114800" cy="329184"/>
          </a:xfrm>
          <a:prstGeom prst="rect">
            <a:avLst/>
          </a:prstGeom>
          <a:solidFill>
            <a:srgbClr val="122644"/>
          </a:solidFill>
          <a:ln w="3810">
            <a:solidFill>
              <a:srgbClr val="1A3050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4937760" y="2615184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B0C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detected_at</a:t>
            </a:r>
            <a:endParaRPr lang="en-US" sz="800" dirty="0"/>
          </a:p>
        </p:txBody>
      </p:sp>
      <p:sp>
        <p:nvSpPr>
          <p:cNvPr id="59" name="Text 57"/>
          <p:cNvSpPr/>
          <p:nvPr/>
        </p:nvSpPr>
        <p:spPr>
          <a:xfrm>
            <a:off x="6355080" y="2615184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A855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DATETIME</a:t>
            </a:r>
            <a:endParaRPr lang="en-US" sz="750" dirty="0"/>
          </a:p>
        </p:txBody>
      </p:sp>
      <p:sp>
        <p:nvSpPr>
          <p:cNvPr id="60" name="Text 58"/>
          <p:cNvSpPr/>
          <p:nvPr/>
        </p:nvSpPr>
        <p:spPr>
          <a:xfrm>
            <a:off x="7589520" y="2615184"/>
            <a:ext cx="1143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8899AA"/>
                </a:solidFill>
              </a:rPr>
              <a:t>탐지 일시</a:t>
            </a:r>
            <a:endParaRPr lang="en-US" sz="700" dirty="0"/>
          </a:p>
        </p:txBody>
      </p:sp>
      <p:sp>
        <p:nvSpPr>
          <p:cNvPr id="61" name="Shape 59"/>
          <p:cNvSpPr/>
          <p:nvPr/>
        </p:nvSpPr>
        <p:spPr>
          <a:xfrm>
            <a:off x="4709160" y="2962656"/>
            <a:ext cx="4114800" cy="329184"/>
          </a:xfrm>
          <a:prstGeom prst="rect">
            <a:avLst/>
          </a:prstGeom>
          <a:solidFill>
            <a:srgbClr val="060D1A"/>
          </a:solidFill>
          <a:ln w="3810">
            <a:solidFill>
              <a:srgbClr val="1A3050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4937760" y="299008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B0C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confidence</a:t>
            </a:r>
            <a:endParaRPr lang="en-US" sz="800" dirty="0"/>
          </a:p>
        </p:txBody>
      </p:sp>
      <p:sp>
        <p:nvSpPr>
          <p:cNvPr id="63" name="Text 61"/>
          <p:cNvSpPr/>
          <p:nvPr/>
        </p:nvSpPr>
        <p:spPr>
          <a:xfrm>
            <a:off x="6355080" y="2990088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A855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DOUBLE</a:t>
            </a:r>
            <a:endParaRPr lang="en-US" sz="750" dirty="0"/>
          </a:p>
        </p:txBody>
      </p:sp>
      <p:sp>
        <p:nvSpPr>
          <p:cNvPr id="64" name="Text 62"/>
          <p:cNvSpPr/>
          <p:nvPr/>
        </p:nvSpPr>
        <p:spPr>
          <a:xfrm>
            <a:off x="7589520" y="2990088"/>
            <a:ext cx="1143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8899AA"/>
                </a:solidFill>
              </a:rPr>
              <a:t>신뢰도 0~1</a:t>
            </a:r>
            <a:endParaRPr lang="en-US" sz="700" dirty="0"/>
          </a:p>
        </p:txBody>
      </p:sp>
      <p:sp>
        <p:nvSpPr>
          <p:cNvPr id="65" name="Shape 63"/>
          <p:cNvSpPr/>
          <p:nvPr/>
        </p:nvSpPr>
        <p:spPr>
          <a:xfrm>
            <a:off x="4709160" y="3337560"/>
            <a:ext cx="4114800" cy="329184"/>
          </a:xfrm>
          <a:prstGeom prst="rect">
            <a:avLst/>
          </a:prstGeom>
          <a:solidFill>
            <a:srgbClr val="122644"/>
          </a:solidFill>
          <a:ln w="3810">
            <a:solidFill>
              <a:srgbClr val="1A3050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4937760" y="3364992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B0C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bbox_json</a:t>
            </a:r>
            <a:endParaRPr lang="en-US" sz="800" dirty="0"/>
          </a:p>
        </p:txBody>
      </p:sp>
      <p:sp>
        <p:nvSpPr>
          <p:cNvPr id="67" name="Text 65"/>
          <p:cNvSpPr/>
          <p:nvPr/>
        </p:nvSpPr>
        <p:spPr>
          <a:xfrm>
            <a:off x="6355080" y="3364992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A855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TEXT</a:t>
            </a:r>
            <a:endParaRPr lang="en-US" sz="750" dirty="0"/>
          </a:p>
        </p:txBody>
      </p:sp>
      <p:sp>
        <p:nvSpPr>
          <p:cNvPr id="68" name="Text 66"/>
          <p:cNvSpPr/>
          <p:nvPr/>
        </p:nvSpPr>
        <p:spPr>
          <a:xfrm>
            <a:off x="7589520" y="3364992"/>
            <a:ext cx="1143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8899AA"/>
                </a:solidFill>
              </a:rPr>
              <a:t>바운딩박스 좌표</a:t>
            </a:r>
            <a:endParaRPr lang="en-US" sz="700" dirty="0"/>
          </a:p>
        </p:txBody>
      </p:sp>
      <p:sp>
        <p:nvSpPr>
          <p:cNvPr id="69" name="Shape 67"/>
          <p:cNvSpPr/>
          <p:nvPr/>
        </p:nvSpPr>
        <p:spPr>
          <a:xfrm>
            <a:off x="4709160" y="3712464"/>
            <a:ext cx="4114800" cy="329184"/>
          </a:xfrm>
          <a:prstGeom prst="rect">
            <a:avLst/>
          </a:prstGeom>
          <a:solidFill>
            <a:srgbClr val="060D1A"/>
          </a:solidFill>
          <a:ln w="3810">
            <a:solidFill>
              <a:srgbClr val="1A3050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4937760" y="3739896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B0C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image_path</a:t>
            </a:r>
            <a:endParaRPr lang="en-US" sz="800" dirty="0"/>
          </a:p>
        </p:txBody>
      </p:sp>
      <p:sp>
        <p:nvSpPr>
          <p:cNvPr id="71" name="Text 69"/>
          <p:cNvSpPr/>
          <p:nvPr/>
        </p:nvSpPr>
        <p:spPr>
          <a:xfrm>
            <a:off x="6355080" y="3739896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A855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VARCHAR(500)</a:t>
            </a:r>
            <a:endParaRPr lang="en-US" sz="750" dirty="0"/>
          </a:p>
        </p:txBody>
      </p:sp>
      <p:sp>
        <p:nvSpPr>
          <p:cNvPr id="72" name="Text 70"/>
          <p:cNvSpPr/>
          <p:nvPr/>
        </p:nvSpPr>
        <p:spPr>
          <a:xfrm>
            <a:off x="7589520" y="3739896"/>
            <a:ext cx="1143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8899AA"/>
                </a:solidFill>
              </a:rPr>
              <a:t>스냅샷 파일 경로</a:t>
            </a:r>
            <a:endParaRPr lang="en-US" sz="700" dirty="0"/>
          </a:p>
        </p:txBody>
      </p:sp>
      <p:sp>
        <p:nvSpPr>
          <p:cNvPr id="73" name="Shape 71"/>
          <p:cNvSpPr/>
          <p:nvPr/>
        </p:nvSpPr>
        <p:spPr>
          <a:xfrm>
            <a:off x="4709160" y="4087368"/>
            <a:ext cx="4114800" cy="329184"/>
          </a:xfrm>
          <a:prstGeom prst="rect">
            <a:avLst/>
          </a:prstGeom>
          <a:solidFill>
            <a:srgbClr val="122644"/>
          </a:solidFill>
          <a:ln w="3810">
            <a:solidFill>
              <a:srgbClr val="1A3050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4937760" y="41148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B0C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status</a:t>
            </a:r>
            <a:endParaRPr lang="en-US" sz="800" dirty="0"/>
          </a:p>
        </p:txBody>
      </p:sp>
      <p:sp>
        <p:nvSpPr>
          <p:cNvPr id="75" name="Text 73"/>
          <p:cNvSpPr/>
          <p:nvPr/>
        </p:nvSpPr>
        <p:spPr>
          <a:xfrm>
            <a:off x="6355080" y="411480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A855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VARCHAR(20)</a:t>
            </a:r>
            <a:endParaRPr lang="en-US" sz="750" dirty="0"/>
          </a:p>
        </p:txBody>
      </p:sp>
      <p:sp>
        <p:nvSpPr>
          <p:cNvPr id="76" name="Text 74"/>
          <p:cNvSpPr/>
          <p:nvPr/>
        </p:nvSpPr>
        <p:spPr>
          <a:xfrm>
            <a:off x="7589520" y="4114800"/>
            <a:ext cx="1143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8899AA"/>
                </a:solidFill>
              </a:rPr>
              <a:t>new/acked/in_progress/resolved</a:t>
            </a:r>
            <a:endParaRPr lang="en-US" sz="700" dirty="0"/>
          </a:p>
        </p:txBody>
      </p:sp>
      <p:sp>
        <p:nvSpPr>
          <p:cNvPr id="77" name="Shape 75"/>
          <p:cNvSpPr/>
          <p:nvPr/>
        </p:nvSpPr>
        <p:spPr>
          <a:xfrm>
            <a:off x="4709160" y="4462272"/>
            <a:ext cx="4114800" cy="329184"/>
          </a:xfrm>
          <a:prstGeom prst="rect">
            <a:avLst/>
          </a:prstGeom>
          <a:solidFill>
            <a:srgbClr val="060D1A"/>
          </a:solidFill>
          <a:ln w="3810">
            <a:solidFill>
              <a:srgbClr val="1A3050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4937760" y="4489704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B0C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action_notes</a:t>
            </a:r>
            <a:endParaRPr lang="en-US" sz="800" dirty="0"/>
          </a:p>
        </p:txBody>
      </p:sp>
      <p:sp>
        <p:nvSpPr>
          <p:cNvPr id="79" name="Text 77"/>
          <p:cNvSpPr/>
          <p:nvPr/>
        </p:nvSpPr>
        <p:spPr>
          <a:xfrm>
            <a:off x="6355080" y="4489704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A855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TEXT</a:t>
            </a:r>
            <a:endParaRPr lang="en-US" sz="750" dirty="0"/>
          </a:p>
        </p:txBody>
      </p:sp>
      <p:sp>
        <p:nvSpPr>
          <p:cNvPr id="80" name="Text 78"/>
          <p:cNvSpPr/>
          <p:nvPr/>
        </p:nvSpPr>
        <p:spPr>
          <a:xfrm>
            <a:off x="7589520" y="4489704"/>
            <a:ext cx="1143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8899AA"/>
                </a:solidFill>
              </a:rPr>
              <a:t>관리자 메모</a:t>
            </a:r>
            <a:endParaRPr lang="en-US" sz="700" dirty="0"/>
          </a:p>
        </p:txBody>
      </p:sp>
      <p:sp>
        <p:nvSpPr>
          <p:cNvPr id="81" name="Shape 79"/>
          <p:cNvSpPr/>
          <p:nvPr/>
        </p:nvSpPr>
        <p:spPr>
          <a:xfrm>
            <a:off x="274320" y="4800600"/>
            <a:ext cx="182880" cy="20116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548640" y="4800600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99AA"/>
                </a:solidFill>
              </a:rPr>
              <a:t>PK (Primary Key)</a:t>
            </a:r>
            <a:endParaRPr lang="en-US" sz="800" dirty="0"/>
          </a:p>
        </p:txBody>
      </p:sp>
      <p:sp>
        <p:nvSpPr>
          <p:cNvPr id="83" name="Shape 81"/>
          <p:cNvSpPr/>
          <p:nvPr/>
        </p:nvSpPr>
        <p:spPr>
          <a:xfrm>
            <a:off x="2743200" y="4800600"/>
            <a:ext cx="182880" cy="201168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3017520" y="4800600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99AA"/>
                </a:solidFill>
              </a:rPr>
              <a:t>TEAL = cctv_event PK</a:t>
            </a:r>
            <a:endParaRPr lang="en-US" sz="800" dirty="0"/>
          </a:p>
        </p:txBody>
      </p:sp>
      <p:sp>
        <p:nvSpPr>
          <p:cNvPr id="85" name="Text 83"/>
          <p:cNvSpPr/>
          <p:nvPr/>
        </p:nvSpPr>
        <p:spPr>
          <a:xfrm>
            <a:off x="8503920" y="4846320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99AA"/>
                </a:solidFill>
              </a:rPr>
              <a:t>11 / 14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6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2038"/>
          </a:solidFill>
          <a:ln w="12700">
            <a:solidFill>
              <a:srgbClr val="0F203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914400"/>
          </a:xfrm>
          <a:prstGeom prst="rect">
            <a:avLst/>
          </a:prstGeom>
          <a:solidFill>
            <a:srgbClr val="2D6EE8"/>
          </a:solidFill>
          <a:ln w="12700">
            <a:solidFill>
              <a:srgbClr val="2D6EE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371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08  API 엔드포인트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8595360" cy="512064"/>
          </a:xfrm>
          <a:prstGeom prst="rect">
            <a:avLst/>
          </a:prstGeom>
          <a:solidFill>
            <a:srgbClr val="0F2038"/>
          </a:solidFill>
          <a:ln w="10160">
            <a:solidFill>
              <a:srgbClr val="2D6EE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1005840"/>
            <a:ext cx="685800" cy="512064"/>
          </a:xfrm>
          <a:prstGeom prst="rect">
            <a:avLst/>
          </a:prstGeom>
          <a:solidFill>
            <a:srgbClr val="2D6EE8"/>
          </a:solidFill>
          <a:ln w="12700">
            <a:solidFill>
              <a:srgbClr val="2D6E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005840"/>
            <a:ext cx="685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60D1A"/>
                </a:solidFill>
              </a:rPr>
              <a:t>POST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1051560" y="1078992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0C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/api/users/login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800600" y="1078992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99AA"/>
                </a:solidFill>
              </a:rPr>
              <a:t>JWT 토큰 발급 (BCrypt 인증)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8229600" y="1097280"/>
            <a:ext cx="594360" cy="320040"/>
          </a:xfrm>
          <a:prstGeom prst="rect">
            <a:avLst/>
          </a:prstGeom>
          <a:solidFill>
            <a:srgbClr val="060D1A"/>
          </a:solidFill>
          <a:ln w="10160">
            <a:solidFill>
              <a:srgbClr val="00D4A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0" y="1097280"/>
            <a:ext cx="594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0D4AA"/>
                </a:solidFill>
              </a:rPr>
              <a:t>공개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274320" y="1581912"/>
            <a:ext cx="8595360" cy="512064"/>
          </a:xfrm>
          <a:prstGeom prst="rect">
            <a:avLst/>
          </a:prstGeom>
          <a:solidFill>
            <a:srgbClr val="060D1A"/>
          </a:solidFill>
          <a:ln w="10160">
            <a:solidFill>
              <a:srgbClr val="00D4A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" y="1581912"/>
            <a:ext cx="685800" cy="512064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4320" y="1581912"/>
            <a:ext cx="685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60D1A"/>
                </a:solidFill>
              </a:rPr>
              <a:t>GET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1051560" y="1655064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0C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/api/event/latest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800600" y="1655064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99AA"/>
                </a:solidFill>
              </a:rPr>
              <a:t>전체 이벤트 목록 조회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8229600" y="1673352"/>
            <a:ext cx="594360" cy="320040"/>
          </a:xfrm>
          <a:prstGeom prst="rect">
            <a:avLst/>
          </a:prstGeom>
          <a:solidFill>
            <a:srgbClr val="060D1A"/>
          </a:solidFill>
          <a:ln w="10160">
            <a:solidFill>
              <a:srgbClr val="F59E0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0" y="1673352"/>
            <a:ext cx="594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59E0B"/>
                </a:solidFill>
              </a:rPr>
              <a:t>JWT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274320" y="2157984"/>
            <a:ext cx="8595360" cy="512064"/>
          </a:xfrm>
          <a:prstGeom prst="rect">
            <a:avLst/>
          </a:prstGeom>
          <a:solidFill>
            <a:srgbClr val="0F2038"/>
          </a:solidFill>
          <a:ln w="10160">
            <a:solidFill>
              <a:srgbClr val="00D4A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74320" y="2157984"/>
            <a:ext cx="685800" cy="512064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74320" y="2157984"/>
            <a:ext cx="685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60D1A"/>
                </a:solidFill>
              </a:rPr>
              <a:t>GET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1051560" y="2231136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0C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/api/event/paged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800600" y="2231136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99AA"/>
                </a:solidFill>
              </a:rPr>
              <a:t>페이지네이션 이벤트 조회 (?page&amp;size)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8229600" y="2249424"/>
            <a:ext cx="594360" cy="320040"/>
          </a:xfrm>
          <a:prstGeom prst="rect">
            <a:avLst/>
          </a:prstGeom>
          <a:solidFill>
            <a:srgbClr val="060D1A"/>
          </a:solidFill>
          <a:ln w="10160">
            <a:solidFill>
              <a:srgbClr val="F59E0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229600" y="2249424"/>
            <a:ext cx="594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59E0B"/>
                </a:solidFill>
              </a:rPr>
              <a:t>JWT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274320" y="2734056"/>
            <a:ext cx="8595360" cy="512064"/>
          </a:xfrm>
          <a:prstGeom prst="rect">
            <a:avLst/>
          </a:prstGeom>
          <a:solidFill>
            <a:srgbClr val="060D1A"/>
          </a:solidFill>
          <a:ln w="10160">
            <a:solidFill>
              <a:srgbClr val="2D6EE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74320" y="2734056"/>
            <a:ext cx="685800" cy="512064"/>
          </a:xfrm>
          <a:prstGeom prst="rect">
            <a:avLst/>
          </a:prstGeom>
          <a:solidFill>
            <a:srgbClr val="2D6EE8"/>
          </a:solidFill>
          <a:ln w="12700">
            <a:solidFill>
              <a:srgbClr val="2D6EE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74320" y="2734056"/>
            <a:ext cx="685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60D1A"/>
                </a:solidFill>
              </a:rPr>
              <a:t>POST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1051560" y="2807208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0C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/api/event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800600" y="2807208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99AA"/>
                </a:solidFill>
              </a:rPr>
              <a:t>이벤트 등록 (AI 서버 전용 공개)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8229600" y="2825496"/>
            <a:ext cx="594360" cy="320040"/>
          </a:xfrm>
          <a:prstGeom prst="rect">
            <a:avLst/>
          </a:prstGeom>
          <a:solidFill>
            <a:srgbClr val="060D1A"/>
          </a:solidFill>
          <a:ln w="10160">
            <a:solidFill>
              <a:srgbClr val="00D4A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229600" y="2825496"/>
            <a:ext cx="594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0D4AA"/>
                </a:solidFill>
              </a:rPr>
              <a:t>공개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274320" y="3310128"/>
            <a:ext cx="8595360" cy="512064"/>
          </a:xfrm>
          <a:prstGeom prst="rect">
            <a:avLst/>
          </a:prstGeom>
          <a:solidFill>
            <a:srgbClr val="0F2038"/>
          </a:solidFill>
          <a:ln w="10160">
            <a:solidFill>
              <a:srgbClr val="F59E0B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74320" y="3310128"/>
            <a:ext cx="685800" cy="5120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74320" y="3310128"/>
            <a:ext cx="685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60D1A"/>
                </a:solidFill>
              </a:rPr>
              <a:t>PATCH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1051560" y="33832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0C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/api/event/{id}/status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4800600" y="33832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99AA"/>
                </a:solidFill>
              </a:rPr>
              <a:t>이벤트 상태 · 메모 업데이트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8229600" y="3401568"/>
            <a:ext cx="594360" cy="320040"/>
          </a:xfrm>
          <a:prstGeom prst="rect">
            <a:avLst/>
          </a:prstGeom>
          <a:solidFill>
            <a:srgbClr val="060D1A"/>
          </a:solidFill>
          <a:ln w="10160">
            <a:solidFill>
              <a:srgbClr val="F59E0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229600" y="3401568"/>
            <a:ext cx="594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59E0B"/>
                </a:solidFill>
              </a:rPr>
              <a:t>JWT</a:t>
            </a:r>
            <a:endParaRPr lang="en-US" sz="750" dirty="0"/>
          </a:p>
        </p:txBody>
      </p:sp>
      <p:sp>
        <p:nvSpPr>
          <p:cNvPr id="40" name="Shape 38"/>
          <p:cNvSpPr/>
          <p:nvPr/>
        </p:nvSpPr>
        <p:spPr>
          <a:xfrm>
            <a:off x="274320" y="3886200"/>
            <a:ext cx="8595360" cy="512064"/>
          </a:xfrm>
          <a:prstGeom prst="rect">
            <a:avLst/>
          </a:prstGeom>
          <a:solidFill>
            <a:srgbClr val="060D1A"/>
          </a:solidFill>
          <a:ln w="10160">
            <a:solidFill>
              <a:srgbClr val="00D4AA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274320" y="3886200"/>
            <a:ext cx="685800" cy="512064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74320" y="3886200"/>
            <a:ext cx="685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60D1A"/>
                </a:solidFill>
              </a:rPr>
              <a:t>GET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1051560" y="3959352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0C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/api/event/{id}/image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4800600" y="3959352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99AA"/>
                </a:solidFill>
              </a:rPr>
              <a:t>위반 스냅샷 이미지 서빙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8229600" y="3977640"/>
            <a:ext cx="594360" cy="320040"/>
          </a:xfrm>
          <a:prstGeom prst="rect">
            <a:avLst/>
          </a:prstGeom>
          <a:solidFill>
            <a:srgbClr val="060D1A"/>
          </a:solidFill>
          <a:ln w="10160">
            <a:solidFill>
              <a:srgbClr val="00D4AA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8229600" y="3977640"/>
            <a:ext cx="594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0D4AA"/>
                </a:solidFill>
              </a:rPr>
              <a:t>공개</a:t>
            </a:r>
            <a:endParaRPr lang="en-US" sz="750" dirty="0"/>
          </a:p>
        </p:txBody>
      </p:sp>
      <p:sp>
        <p:nvSpPr>
          <p:cNvPr id="47" name="Shape 45"/>
          <p:cNvSpPr/>
          <p:nvPr/>
        </p:nvSpPr>
        <p:spPr>
          <a:xfrm>
            <a:off x="274320" y="4462272"/>
            <a:ext cx="8595360" cy="512064"/>
          </a:xfrm>
          <a:prstGeom prst="rect">
            <a:avLst/>
          </a:prstGeom>
          <a:solidFill>
            <a:srgbClr val="0F2038"/>
          </a:solidFill>
          <a:ln w="10160">
            <a:solidFill>
              <a:srgbClr val="A855F7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274320" y="4462272"/>
            <a:ext cx="685800" cy="512064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274320" y="4462272"/>
            <a:ext cx="685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60D1A"/>
                </a:solidFill>
              </a:rPr>
              <a:t>WS</a:t>
            </a:r>
            <a:endParaRPr lang="en-US" sz="850" dirty="0"/>
          </a:p>
        </p:txBody>
      </p:sp>
      <p:sp>
        <p:nvSpPr>
          <p:cNvPr id="50" name="Text 48"/>
          <p:cNvSpPr/>
          <p:nvPr/>
        </p:nvSpPr>
        <p:spPr>
          <a:xfrm>
            <a:off x="1051560" y="4535424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0C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ws://host/ws/websocket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4800600" y="4535424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99AA"/>
                </a:solidFill>
              </a:rPr>
              <a:t>STOMP 실시간 이벤트 구독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8229600" y="4553712"/>
            <a:ext cx="594360" cy="320040"/>
          </a:xfrm>
          <a:prstGeom prst="rect">
            <a:avLst/>
          </a:prstGeom>
          <a:solidFill>
            <a:srgbClr val="060D1A"/>
          </a:solidFill>
          <a:ln w="10160">
            <a:solidFill>
              <a:srgbClr val="8899AA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8229600" y="4553712"/>
            <a:ext cx="594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8899AA"/>
                </a:solidFill>
              </a:rPr>
              <a:t>옵션</a:t>
            </a:r>
            <a:endParaRPr lang="en-US" sz="750" dirty="0"/>
          </a:p>
        </p:txBody>
      </p:sp>
      <p:sp>
        <p:nvSpPr>
          <p:cNvPr id="54" name="Text 52"/>
          <p:cNvSpPr/>
          <p:nvPr/>
        </p:nvSpPr>
        <p:spPr>
          <a:xfrm>
            <a:off x="8503920" y="4846320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99AA"/>
                </a:solidFill>
              </a:rPr>
              <a:t>12 / 14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6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2038"/>
          </a:solidFill>
          <a:ln w="12700">
            <a:solidFill>
              <a:srgbClr val="0F203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914400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371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09  개발 현황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105156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C4D8"/>
                </a:solidFill>
              </a:rPr>
              <a:t>AI 모델 학습 (YOLOv8)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618481" y="1051560"/>
            <a:ext cx="49631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00D4AA"/>
                </a:solidFill>
              </a:rPr>
              <a:t>100%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65760" y="1325880"/>
            <a:ext cx="3749040" cy="274320"/>
          </a:xfrm>
          <a:prstGeom prst="rect">
            <a:avLst/>
          </a:prstGeom>
          <a:solidFill>
            <a:srgbClr val="122644"/>
          </a:solidFill>
          <a:ln w="6350">
            <a:solidFill>
              <a:srgbClr val="1A305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1325880"/>
            <a:ext cx="3749040" cy="274320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54880" y="105156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C4D8"/>
                </a:solidFill>
              </a:rPr>
              <a:t>FastAPI 탐지 서버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024227" y="1051560"/>
            <a:ext cx="479693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00D4AA"/>
                </a:solidFill>
              </a:rPr>
              <a:t>100%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754880" y="1325880"/>
            <a:ext cx="3749040" cy="274320"/>
          </a:xfrm>
          <a:prstGeom prst="rect">
            <a:avLst/>
          </a:prstGeom>
          <a:solidFill>
            <a:srgbClr val="122644"/>
          </a:solidFill>
          <a:ln w="6350">
            <a:solidFill>
              <a:srgbClr val="1A305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754880" y="1325880"/>
            <a:ext cx="3749040" cy="274320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1819656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C4D8"/>
                </a:solidFill>
              </a:rPr>
              <a:t>Spring Boot REST API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618481" y="1819656"/>
            <a:ext cx="49631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00D4AA"/>
                </a:solidFill>
              </a:rPr>
              <a:t>100%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65760" y="2093976"/>
            <a:ext cx="3749040" cy="274320"/>
          </a:xfrm>
          <a:prstGeom prst="rect">
            <a:avLst/>
          </a:prstGeom>
          <a:solidFill>
            <a:srgbClr val="122644"/>
          </a:solidFill>
          <a:ln w="6350">
            <a:solidFill>
              <a:srgbClr val="1A305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65760" y="2093976"/>
            <a:ext cx="3749040" cy="274320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54880" y="1819656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C4D8"/>
                </a:solidFill>
              </a:rPr>
              <a:t>JWT 인증 시스템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8024227" y="1819656"/>
            <a:ext cx="479693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00D4AA"/>
                </a:solidFill>
              </a:rPr>
              <a:t>100%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754880" y="2093976"/>
            <a:ext cx="3749040" cy="274320"/>
          </a:xfrm>
          <a:prstGeom prst="rect">
            <a:avLst/>
          </a:prstGeom>
          <a:solidFill>
            <a:srgbClr val="122644"/>
          </a:solidFill>
          <a:ln w="6350">
            <a:solidFill>
              <a:srgbClr val="1A305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754880" y="2093976"/>
            <a:ext cx="3749040" cy="274320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" y="2587752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C4D8"/>
                </a:solidFill>
              </a:rPr>
              <a:t>WebSocket STOMP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618481" y="2587752"/>
            <a:ext cx="49631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00D4AA"/>
                </a:solidFill>
              </a:rPr>
              <a:t>100%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65760" y="2862072"/>
            <a:ext cx="3749040" cy="274320"/>
          </a:xfrm>
          <a:prstGeom prst="rect">
            <a:avLst/>
          </a:prstGeom>
          <a:solidFill>
            <a:srgbClr val="122644"/>
          </a:solidFill>
          <a:ln w="6350">
            <a:solidFill>
              <a:srgbClr val="1A305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65760" y="2862072"/>
            <a:ext cx="3749040" cy="274320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54880" y="2587752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C4D8"/>
                </a:solidFill>
              </a:rPr>
              <a:t>React 대시보드 UI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8024227" y="2587752"/>
            <a:ext cx="479693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00D4AA"/>
                </a:solidFill>
              </a:rPr>
              <a:t>100%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754880" y="2862072"/>
            <a:ext cx="3749040" cy="274320"/>
          </a:xfrm>
          <a:prstGeom prst="rect">
            <a:avLst/>
          </a:prstGeom>
          <a:solidFill>
            <a:srgbClr val="122644"/>
          </a:solidFill>
          <a:ln w="6350">
            <a:solidFill>
              <a:srgbClr val="1A305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754880" y="2862072"/>
            <a:ext cx="3749040" cy="274320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5760" y="3355848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C4D8"/>
                </a:solidFill>
              </a:rPr>
              <a:t>이벤트 상태 관리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3618481" y="3355848"/>
            <a:ext cx="49631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00D4AA"/>
                </a:solidFill>
              </a:rPr>
              <a:t>100%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365760" y="3630168"/>
            <a:ext cx="3749040" cy="274320"/>
          </a:xfrm>
          <a:prstGeom prst="rect">
            <a:avLst/>
          </a:prstGeom>
          <a:solidFill>
            <a:srgbClr val="122644"/>
          </a:solidFill>
          <a:ln w="6350">
            <a:solidFill>
              <a:srgbClr val="1A305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65760" y="3630168"/>
            <a:ext cx="3749040" cy="274320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54880" y="3355848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C4D8"/>
                </a:solidFill>
              </a:rPr>
              <a:t>DB 스키마 · 마이그레이션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8024227" y="3355848"/>
            <a:ext cx="479693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00D4AA"/>
                </a:solidFill>
              </a:rPr>
              <a:t>100%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754880" y="3630168"/>
            <a:ext cx="3749040" cy="274320"/>
          </a:xfrm>
          <a:prstGeom prst="rect">
            <a:avLst/>
          </a:prstGeom>
          <a:solidFill>
            <a:srgbClr val="122644"/>
          </a:solidFill>
          <a:ln w="6350">
            <a:solidFill>
              <a:srgbClr val="1A305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754880" y="3630168"/>
            <a:ext cx="3749040" cy="274320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" y="4123944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C4D8"/>
                </a:solidFill>
              </a:rPr>
              <a:t>이미지 스냅샷 기능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3574473" y="4123944"/>
            <a:ext cx="540327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00D4AA"/>
                </a:solidFill>
              </a:rPr>
              <a:t>100%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365760" y="4398264"/>
            <a:ext cx="3749040" cy="274320"/>
          </a:xfrm>
          <a:prstGeom prst="rect">
            <a:avLst/>
          </a:prstGeom>
          <a:solidFill>
            <a:srgbClr val="122644"/>
          </a:solidFill>
          <a:ln w="6350">
            <a:solidFill>
              <a:srgbClr val="1A305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365760" y="4398264"/>
            <a:ext cx="3749040" cy="274320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754880" y="4123944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C4D8"/>
                </a:solidFill>
              </a:rPr>
              <a:t>페이지네이션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8024227" y="4123944"/>
            <a:ext cx="479693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00D4AA"/>
                </a:solidFill>
              </a:rPr>
              <a:t>100%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4754880" y="4398264"/>
            <a:ext cx="3749040" cy="274320"/>
          </a:xfrm>
          <a:prstGeom prst="rect">
            <a:avLst/>
          </a:prstGeom>
          <a:solidFill>
            <a:srgbClr val="122644"/>
          </a:solidFill>
          <a:ln w="6350">
            <a:solidFill>
              <a:srgbClr val="1A305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4754880" y="4398264"/>
            <a:ext cx="3749040" cy="274320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65760" y="4645152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60D1A"/>
                </a:solidFill>
              </a:rPr>
              <a:t>전체 개발 완료율: 100%  ✔  배포 준비 완료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8503920" y="4846320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99AA"/>
                </a:solidFill>
              </a:rPr>
              <a:t>13 / 14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6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052560" y="0"/>
            <a:ext cx="91440" cy="5143500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1097280"/>
            <a:ext cx="7315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0" b="1" kern="0" spc="1000" dirty="0">
                <a:solidFill>
                  <a:srgbClr val="00D4A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Q &amp; A</a:t>
            </a:r>
            <a:endParaRPr lang="en-US" sz="8000" dirty="0"/>
          </a:p>
        </p:txBody>
      </p:sp>
      <p:sp>
        <p:nvSpPr>
          <p:cNvPr id="5" name="Text 3"/>
          <p:cNvSpPr/>
          <p:nvPr/>
        </p:nvSpPr>
        <p:spPr>
          <a:xfrm>
            <a:off x="914400" y="246888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i="1" dirty="0">
                <a:solidFill>
                  <a:srgbClr val="B0C4D8"/>
                </a:solidFill>
              </a:rPr>
              <a:t>질문 · 답변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2286000" y="3200400"/>
            <a:ext cx="4572000" cy="36576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33832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8899AA"/>
                </a:solidFill>
              </a:rPr>
              <a:t>PPE 모니터링 시스템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14400" y="44805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D4AA"/>
                </a:solidFill>
              </a:rPr>
              <a:t>김인섭 · 성기원 · 전승재 · 조용욱 · 박종인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56</TotalTime>
  <Words>1183</Words>
  <Application>Microsoft Office PowerPoint</Application>
  <PresentationFormat>화면 슬라이드 쇼(16:9)</PresentationFormat>
  <Paragraphs>375</Paragraphs>
  <Slides>14</Slides>
  <Notes>14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14</vt:i4>
      </vt:variant>
    </vt:vector>
  </HeadingPairs>
  <TitlesOfParts>
    <vt:vector size="18" baseType="lpstr">
      <vt:lpstr>Arial</vt:lpstr>
      <vt:lpstr>Arial Black</vt:lpstr>
      <vt:lpstr>Consolas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PPE 모니터링 시스템 최종 발표</dc:title>
  <dc:subject>PptxGenJS Presentation</dc:subject>
  <dc:creator>PptxGenJS</dc:creator>
  <cp:lastModifiedBy>zeroziba9@naver.com</cp:lastModifiedBy>
  <cp:revision>3</cp:revision>
  <dcterms:created xsi:type="dcterms:W3CDTF">2026-05-19T00:27:06Z</dcterms:created>
  <dcterms:modified xsi:type="dcterms:W3CDTF">2026-05-19T05:21:31Z</dcterms:modified>
</cp:coreProperties>
</file>